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72" r:id="rId3"/>
    <p:sldId id="273" r:id="rId4"/>
    <p:sldId id="274" r:id="rId5"/>
    <p:sldId id="275" r:id="rId6"/>
    <p:sldId id="276" r:id="rId7"/>
    <p:sldId id="277" r:id="rId8"/>
    <p:sldId id="278" r:id="rId9"/>
    <p:sldId id="279" r:id="rId10"/>
    <p:sldId id="280" r:id="rId11"/>
    <p:sldId id="281" r:id="rId12"/>
    <p:sldId id="282" r:id="rId13"/>
    <p:sldId id="283" r:id="rId14"/>
    <p:sldId id="284" r:id="rId15"/>
    <p:sldId id="285" r:id="rId16"/>
    <p:sldId id="286" r:id="rId17"/>
    <p:sldId id="287" r:id="rId18"/>
    <p:sldId id="288" r:id="rId19"/>
    <p:sldId id="289" r:id="rId20"/>
    <p:sldId id="293" r:id="rId21"/>
    <p:sldId id="294" r:id="rId22"/>
    <p:sldId id="295" r:id="rId23"/>
    <p:sldId id="290" r:id="rId24"/>
    <p:sldId id="291" r:id="rId25"/>
    <p:sldId id="292"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6/27/2026</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6/27/2026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6/27/2026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6/27/2026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6/27/2026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6/27/2026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6/27/2026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6/27/2026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6/27/2026</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078E-8EB8-2041-6578-E63514B18180}"/>
              </a:ext>
            </a:extLst>
          </p:cNvPr>
          <p:cNvSpPr>
            <a:spLocks noGrp="1"/>
          </p:cNvSpPr>
          <p:nvPr>
            <p:ph type="ctrTitle"/>
          </p:nvPr>
        </p:nvSpPr>
        <p:spPr>
          <a:xfrm>
            <a:off x="1876424" y="363794"/>
            <a:ext cx="8791575" cy="3146169"/>
          </a:xfrm>
        </p:spPr>
        <p:txBody>
          <a:bodyPr anchor="t">
            <a:normAutofit fontScale="90000"/>
          </a:bodyPr>
          <a:lstStyle/>
          <a:p>
            <a:br>
              <a:rPr lang="en-IN" b="1" dirty="0"/>
            </a:br>
            <a:br>
              <a:rPr lang="en-IN" b="1" dirty="0"/>
            </a:br>
            <a:br>
              <a:rPr lang="en-IN" b="1" dirty="0"/>
            </a:br>
            <a:r>
              <a:rPr lang="en-IN" b="1" dirty="0"/>
              <a:t>Capstone Project: </a:t>
            </a:r>
            <a:br>
              <a:rPr lang="en-IN" dirty="0"/>
            </a:br>
            <a:r>
              <a:rPr lang="en-IN" b="1" dirty="0"/>
              <a:t>Analytical CRM Development for a Bank</a:t>
            </a:r>
            <a:br>
              <a:rPr lang="en-IN" dirty="0"/>
            </a:br>
            <a:br>
              <a:rPr lang="en-IN" dirty="0"/>
            </a:br>
            <a:endParaRPr lang="en-IN" dirty="0"/>
          </a:p>
        </p:txBody>
      </p:sp>
      <p:sp>
        <p:nvSpPr>
          <p:cNvPr id="3" name="Subtitle 2">
            <a:extLst>
              <a:ext uri="{FF2B5EF4-FFF2-40B4-BE49-F238E27FC236}">
                <a16:creationId xmlns:a16="http://schemas.microsoft.com/office/drawing/2014/main" id="{2FCF4BBB-079D-F82F-2354-2DD524363205}"/>
              </a:ext>
            </a:extLst>
          </p:cNvPr>
          <p:cNvSpPr>
            <a:spLocks noGrp="1"/>
          </p:cNvSpPr>
          <p:nvPr>
            <p:ph type="subTitle" idx="1"/>
          </p:nvPr>
        </p:nvSpPr>
        <p:spPr/>
        <p:txBody>
          <a:bodyPr/>
          <a:lstStyle/>
          <a:p>
            <a:endParaRPr lang="en-IN" b="1" dirty="0"/>
          </a:p>
          <a:p>
            <a:endParaRPr lang="en-IN" b="1" dirty="0"/>
          </a:p>
          <a:p>
            <a:r>
              <a:rPr lang="en-IN" b="1" dirty="0"/>
              <a:t>SUBMITTED BY : HARMANPREET KAUR</a:t>
            </a:r>
          </a:p>
        </p:txBody>
      </p:sp>
    </p:spTree>
    <p:extLst>
      <p:ext uri="{BB962C8B-B14F-4D97-AF65-F5344CB8AC3E}">
        <p14:creationId xmlns:p14="http://schemas.microsoft.com/office/powerpoint/2010/main" val="3844764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4862F-0E8C-FC7E-E9A0-E121CE90CE4B}"/>
              </a:ext>
            </a:extLst>
          </p:cNvPr>
          <p:cNvSpPr>
            <a:spLocks noGrp="1"/>
          </p:cNvSpPr>
          <p:nvPr>
            <p:ph type="title"/>
          </p:nvPr>
        </p:nvSpPr>
        <p:spPr/>
        <p:txBody>
          <a:bodyPr/>
          <a:lstStyle/>
          <a:p>
            <a:pPr algn="ctr"/>
            <a:r>
              <a:rPr lang="en-IN" dirty="0"/>
              <a:t>INTRODUCTION</a:t>
            </a:r>
          </a:p>
        </p:txBody>
      </p:sp>
      <p:sp>
        <p:nvSpPr>
          <p:cNvPr id="3" name="Content Placeholder 2">
            <a:extLst>
              <a:ext uri="{FF2B5EF4-FFF2-40B4-BE49-F238E27FC236}">
                <a16:creationId xmlns:a16="http://schemas.microsoft.com/office/drawing/2014/main" id="{E4203CAD-0AB4-FB4E-B49A-93A850E8FA32}"/>
              </a:ext>
            </a:extLst>
          </p:cNvPr>
          <p:cNvSpPr>
            <a:spLocks noGrp="1"/>
          </p:cNvSpPr>
          <p:nvPr>
            <p:ph idx="1"/>
          </p:nvPr>
        </p:nvSpPr>
        <p:spPr>
          <a:xfrm>
            <a:off x="1141412" y="2249486"/>
            <a:ext cx="9905999" cy="3630203"/>
          </a:xfrm>
        </p:spPr>
        <p:txBody>
          <a:bodyPr>
            <a:normAutofit/>
          </a:bodyPr>
          <a:lstStyle/>
          <a:p>
            <a:pPr marL="0" indent="0">
              <a:buNone/>
            </a:pPr>
            <a:r>
              <a:rPr lang="en-IN" sz="2000" dirty="0"/>
              <a:t>This analysis focuses on understanding customer churn patterns within a retail bank.</a:t>
            </a:r>
            <a:br>
              <a:rPr lang="en-IN" sz="2000" dirty="0"/>
            </a:br>
            <a:r>
              <a:rPr lang="en-IN" sz="2000" dirty="0"/>
              <a:t>By examining key factors such as demographics, geography, financial </a:t>
            </a:r>
            <a:r>
              <a:rPr lang="en-IN" sz="2000" dirty="0" err="1"/>
              <a:t>behavior</a:t>
            </a:r>
            <a:r>
              <a:rPr lang="en-IN" sz="2000" dirty="0"/>
              <a:t>, and customer engagement, the study aims to:</a:t>
            </a:r>
          </a:p>
          <a:p>
            <a:pPr fontAlgn="base"/>
            <a:r>
              <a:rPr lang="en-IN" sz="2000" dirty="0"/>
              <a:t>Identify </a:t>
            </a:r>
            <a:r>
              <a:rPr lang="en-IN" sz="2000" b="1" dirty="0"/>
              <a:t>who is leaving</a:t>
            </a:r>
            <a:r>
              <a:rPr lang="en-IN" sz="2000" dirty="0"/>
              <a:t> and </a:t>
            </a:r>
            <a:r>
              <a:rPr lang="en-IN" sz="2000" b="1" dirty="0"/>
              <a:t>why</a:t>
            </a:r>
            <a:endParaRPr lang="en-IN" sz="2000" dirty="0"/>
          </a:p>
          <a:p>
            <a:pPr fontAlgn="base"/>
            <a:r>
              <a:rPr lang="en-IN" sz="2000" dirty="0"/>
              <a:t>Highlight </a:t>
            </a:r>
            <a:r>
              <a:rPr lang="en-IN" sz="2000" b="1" dirty="0"/>
              <a:t>high-risk customer segments</a:t>
            </a:r>
            <a:endParaRPr lang="en-IN" sz="2000" dirty="0"/>
          </a:p>
          <a:p>
            <a:pPr fontAlgn="base"/>
            <a:r>
              <a:rPr lang="en-IN" sz="2000" dirty="0"/>
              <a:t>Develop </a:t>
            </a:r>
            <a:r>
              <a:rPr lang="en-IN" sz="2000" b="1" dirty="0"/>
              <a:t>data-driven strategies</a:t>
            </a:r>
            <a:r>
              <a:rPr lang="en-IN" sz="2000" dirty="0"/>
              <a:t> to reduce churn, improve service quality, and enhance overall customer satisfaction</a:t>
            </a:r>
          </a:p>
          <a:p>
            <a:endParaRPr lang="en-IN" dirty="0"/>
          </a:p>
        </p:txBody>
      </p:sp>
    </p:spTree>
    <p:extLst>
      <p:ext uri="{BB962C8B-B14F-4D97-AF65-F5344CB8AC3E}">
        <p14:creationId xmlns:p14="http://schemas.microsoft.com/office/powerpoint/2010/main" val="2239976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752D6E-E439-EA92-E9F1-6C4DDFACD4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59B1B0-F469-7FDA-0C41-25EABEE7B04D}"/>
              </a:ext>
            </a:extLst>
          </p:cNvPr>
          <p:cNvSpPr>
            <a:spLocks noGrp="1"/>
          </p:cNvSpPr>
          <p:nvPr>
            <p:ph type="title"/>
          </p:nvPr>
        </p:nvSpPr>
        <p:spPr/>
        <p:txBody>
          <a:bodyPr/>
          <a:lstStyle/>
          <a:p>
            <a:pPr algn="ctr"/>
            <a:r>
              <a:rPr lang="en-IN" dirty="0"/>
              <a:t>OBJECTIVE</a:t>
            </a:r>
          </a:p>
        </p:txBody>
      </p:sp>
      <p:sp>
        <p:nvSpPr>
          <p:cNvPr id="3" name="Content Placeholder 2">
            <a:extLst>
              <a:ext uri="{FF2B5EF4-FFF2-40B4-BE49-F238E27FC236}">
                <a16:creationId xmlns:a16="http://schemas.microsoft.com/office/drawing/2014/main" id="{15C26A6C-E80A-33D6-B2ED-F1A4C2857760}"/>
              </a:ext>
            </a:extLst>
          </p:cNvPr>
          <p:cNvSpPr>
            <a:spLocks noGrp="1"/>
          </p:cNvSpPr>
          <p:nvPr>
            <p:ph idx="1"/>
          </p:nvPr>
        </p:nvSpPr>
        <p:spPr>
          <a:xfrm>
            <a:off x="1141412" y="2249486"/>
            <a:ext cx="9905999" cy="3630203"/>
          </a:xfrm>
        </p:spPr>
        <p:txBody>
          <a:bodyPr>
            <a:normAutofit/>
          </a:bodyPr>
          <a:lstStyle/>
          <a:p>
            <a:pPr marL="0" indent="0">
              <a:buNone/>
            </a:pPr>
            <a:r>
              <a:rPr lang="en-IN" sz="2000" dirty="0"/>
              <a:t>The aim of this project is to analyse customer demographics, financial profiles and behavioural patterns to identify the key factors driving customer churn.</a:t>
            </a:r>
            <a:br>
              <a:rPr lang="en-IN" sz="2000" dirty="0"/>
            </a:br>
            <a:r>
              <a:rPr lang="en-IN" sz="2000" dirty="0"/>
              <a:t>By uncovering these insights, the analysis seeks to:</a:t>
            </a:r>
          </a:p>
          <a:p>
            <a:pPr fontAlgn="base"/>
            <a:r>
              <a:rPr lang="en-IN" sz="2000" b="1" dirty="0"/>
              <a:t>Reduce customer attrition</a:t>
            </a:r>
            <a:r>
              <a:rPr lang="en-IN" sz="2000" dirty="0"/>
              <a:t> through targeted retention strategies</a:t>
            </a:r>
          </a:p>
          <a:p>
            <a:pPr fontAlgn="base"/>
            <a:r>
              <a:rPr lang="en-IN" sz="2000" b="1" dirty="0"/>
              <a:t>Improve service delivery efficiency</a:t>
            </a:r>
            <a:r>
              <a:rPr lang="en-IN" sz="2000" dirty="0"/>
              <a:t> across banking operations</a:t>
            </a:r>
          </a:p>
          <a:p>
            <a:pPr fontAlgn="base"/>
            <a:r>
              <a:rPr lang="en-IN" sz="2000" b="1" dirty="0"/>
              <a:t>Enhance overall customer satisfaction and loyalty</a:t>
            </a:r>
            <a:br>
              <a:rPr lang="en-IN" b="1" dirty="0"/>
            </a:br>
            <a:endParaRPr lang="en-IN" dirty="0"/>
          </a:p>
          <a:p>
            <a:endParaRPr lang="en-IN" dirty="0"/>
          </a:p>
        </p:txBody>
      </p:sp>
    </p:spTree>
    <p:extLst>
      <p:ext uri="{BB962C8B-B14F-4D97-AF65-F5344CB8AC3E}">
        <p14:creationId xmlns:p14="http://schemas.microsoft.com/office/powerpoint/2010/main" val="18088376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82C1D-D407-8A9F-174D-C2BE65FC06CD}"/>
              </a:ext>
            </a:extLst>
          </p:cNvPr>
          <p:cNvSpPr>
            <a:spLocks noGrp="1"/>
          </p:cNvSpPr>
          <p:nvPr>
            <p:ph type="title"/>
          </p:nvPr>
        </p:nvSpPr>
        <p:spPr/>
        <p:txBody>
          <a:bodyPr anchor="ctr"/>
          <a:lstStyle/>
          <a:p>
            <a:r>
              <a:rPr lang="en-IN" dirty="0"/>
              <a:t>PROBLEM </a:t>
            </a:r>
            <a:r>
              <a:rPr lang="en-IN" sz="3600" dirty="0"/>
              <a:t>STATEMENT</a:t>
            </a:r>
          </a:p>
        </p:txBody>
      </p:sp>
      <p:pic>
        <p:nvPicPr>
          <p:cNvPr id="6" name="Picture Placeholder 5">
            <a:extLst>
              <a:ext uri="{FF2B5EF4-FFF2-40B4-BE49-F238E27FC236}">
                <a16:creationId xmlns:a16="http://schemas.microsoft.com/office/drawing/2014/main" id="{0A9F109B-C488-E73D-6479-33376BE3158F}"/>
              </a:ext>
            </a:extLst>
          </p:cNvPr>
          <p:cNvPicPr>
            <a:picLocks noGrp="1" noChangeAspect="1"/>
          </p:cNvPicPr>
          <p:nvPr>
            <p:ph type="pic" idx="1"/>
          </p:nvPr>
        </p:nvPicPr>
        <p:blipFill>
          <a:blip r:embed="rId2"/>
          <a:srcRect l="26412" r="26412"/>
          <a:stretch/>
        </p:blipFill>
        <p:spPr>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Text Placeholder 3">
            <a:extLst>
              <a:ext uri="{FF2B5EF4-FFF2-40B4-BE49-F238E27FC236}">
                <a16:creationId xmlns:a16="http://schemas.microsoft.com/office/drawing/2014/main" id="{F95ECF8E-925B-B224-60F5-470FEB4FA632}"/>
              </a:ext>
            </a:extLst>
          </p:cNvPr>
          <p:cNvSpPr>
            <a:spLocks noGrp="1"/>
          </p:cNvSpPr>
          <p:nvPr>
            <p:ph type="body" sz="half" idx="2"/>
          </p:nvPr>
        </p:nvSpPr>
        <p:spPr/>
        <p:txBody>
          <a:bodyPr>
            <a:normAutofit lnSpcReduction="10000"/>
          </a:bodyPr>
          <a:lstStyle/>
          <a:p>
            <a:r>
              <a:rPr lang="en-IN" sz="2000" dirty="0"/>
              <a:t>You are an analytical CRM (Customer Relationship Management) specialist hired by a bank to extract meaningful insights from various customer-related datasets. The bank aims to reduce customer churn, improve service delivery, and enhance customer satisfaction. They have provided you with datasets including customer demographics, transaction details, customer exit information, and active customer profiles.</a:t>
            </a:r>
          </a:p>
          <a:p>
            <a:br>
              <a:rPr lang="en-IN" dirty="0"/>
            </a:br>
            <a:endParaRPr lang="en-IN" dirty="0"/>
          </a:p>
        </p:txBody>
      </p:sp>
    </p:spTree>
    <p:extLst>
      <p:ext uri="{BB962C8B-B14F-4D97-AF65-F5344CB8AC3E}">
        <p14:creationId xmlns:p14="http://schemas.microsoft.com/office/powerpoint/2010/main" val="33661378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EFF62-4F13-59A3-1199-AFC2CD20DCB2}"/>
              </a:ext>
            </a:extLst>
          </p:cNvPr>
          <p:cNvSpPr>
            <a:spLocks noGrp="1"/>
          </p:cNvSpPr>
          <p:nvPr>
            <p:ph type="title"/>
          </p:nvPr>
        </p:nvSpPr>
        <p:spPr>
          <a:xfrm>
            <a:off x="1357719" y="825910"/>
            <a:ext cx="9162793" cy="147484"/>
          </a:xfrm>
        </p:spPr>
        <p:txBody>
          <a:bodyPr>
            <a:normAutofit fontScale="90000"/>
          </a:bodyPr>
          <a:lstStyle/>
          <a:p>
            <a:r>
              <a:rPr lang="en-IN" sz="4000" dirty="0"/>
              <a:t>DATA ATTRIBUTES</a:t>
            </a:r>
            <a:br>
              <a:rPr lang="en-IN" sz="1600" dirty="0"/>
            </a:br>
            <a:r>
              <a:rPr lang="en-IN" sz="1600" dirty="0"/>
              <a:t>The dataset contain information about 7 tables. Below is an overview of the dataset.</a:t>
            </a:r>
            <a:br>
              <a:rPr lang="en-IN" sz="1600" dirty="0"/>
            </a:br>
            <a:br>
              <a:rPr lang="en-IN" sz="1600" dirty="0"/>
            </a:br>
            <a:endParaRPr lang="en-IN" sz="1600" dirty="0"/>
          </a:p>
        </p:txBody>
      </p:sp>
      <p:sp>
        <p:nvSpPr>
          <p:cNvPr id="3" name="Content Placeholder 2">
            <a:extLst>
              <a:ext uri="{FF2B5EF4-FFF2-40B4-BE49-F238E27FC236}">
                <a16:creationId xmlns:a16="http://schemas.microsoft.com/office/drawing/2014/main" id="{E969D319-9345-ECF1-B49D-D8E073527A87}"/>
              </a:ext>
            </a:extLst>
          </p:cNvPr>
          <p:cNvSpPr>
            <a:spLocks noGrp="1"/>
          </p:cNvSpPr>
          <p:nvPr>
            <p:ph sz="half" idx="1"/>
          </p:nvPr>
        </p:nvSpPr>
        <p:spPr>
          <a:xfrm>
            <a:off x="934066" y="1189703"/>
            <a:ext cx="4758812" cy="5574891"/>
          </a:xfrm>
        </p:spPr>
        <p:txBody>
          <a:bodyPr>
            <a:normAutofit fontScale="62500" lnSpcReduction="20000"/>
          </a:bodyPr>
          <a:lstStyle/>
          <a:p>
            <a:pPr marL="0" indent="0">
              <a:buNone/>
            </a:pPr>
            <a:r>
              <a:rPr lang="en-IN" sz="3200" b="1" dirty="0"/>
              <a:t>TABLES</a:t>
            </a:r>
          </a:p>
          <a:p>
            <a:r>
              <a:rPr lang="en-IN" sz="3200" b="1" dirty="0" err="1"/>
              <a:t>CustomerInfo</a:t>
            </a:r>
            <a:r>
              <a:rPr lang="en-IN" sz="3200" dirty="0"/>
              <a:t> – Contains customer demographic information.</a:t>
            </a:r>
          </a:p>
          <a:p>
            <a:r>
              <a:rPr lang="en-IN" sz="3200" b="1" dirty="0"/>
              <a:t>Bank Churn</a:t>
            </a:r>
            <a:r>
              <a:rPr lang="en-IN" sz="3200" dirty="0"/>
              <a:t> – Stores churn status and banking details.</a:t>
            </a:r>
          </a:p>
          <a:p>
            <a:r>
              <a:rPr lang="en-IN" sz="3200" b="1" dirty="0"/>
              <a:t>Credit Card</a:t>
            </a:r>
            <a:r>
              <a:rPr lang="en-IN" sz="3200" dirty="0"/>
              <a:t> – Indicates whether the customer owns a credit card.</a:t>
            </a:r>
          </a:p>
          <a:p>
            <a:r>
              <a:rPr lang="en-IN" sz="3200" b="1" dirty="0"/>
              <a:t>Active Customer</a:t>
            </a:r>
            <a:r>
              <a:rPr lang="en-IN" sz="3200" dirty="0"/>
              <a:t> – Shows customer activity status.</a:t>
            </a:r>
          </a:p>
          <a:p>
            <a:r>
              <a:rPr lang="en-IN" sz="3200" b="1" dirty="0"/>
              <a:t>Geography</a:t>
            </a:r>
            <a:r>
              <a:rPr lang="en-IN" sz="3200" dirty="0"/>
              <a:t> – Contains customer country information.</a:t>
            </a:r>
          </a:p>
          <a:p>
            <a:r>
              <a:rPr lang="en-IN" sz="3200" b="1" dirty="0"/>
              <a:t>Gender</a:t>
            </a:r>
            <a:r>
              <a:rPr lang="en-IN" sz="3200" dirty="0"/>
              <a:t> – Lookup table for gender names.</a:t>
            </a:r>
          </a:p>
          <a:p>
            <a:r>
              <a:rPr lang="en-IN" sz="3200" b="1" dirty="0"/>
              <a:t>Exit Customer</a:t>
            </a:r>
            <a:r>
              <a:rPr lang="en-IN" sz="3200" dirty="0"/>
              <a:t> – Contains exit/churn-related information.</a:t>
            </a:r>
          </a:p>
          <a:p>
            <a:endParaRPr lang="en-IN" sz="2000" dirty="0"/>
          </a:p>
          <a:p>
            <a:pPr marL="0" indent="0">
              <a:buNone/>
            </a:pPr>
            <a:endParaRPr lang="en-IN" sz="2000" dirty="0"/>
          </a:p>
          <a:p>
            <a:pPr marL="0" indent="0">
              <a:buNone/>
            </a:pPr>
            <a:endParaRPr lang="en-IN" dirty="0"/>
          </a:p>
          <a:p>
            <a:pPr marL="0" indent="0">
              <a:buNone/>
            </a:pPr>
            <a:endParaRPr lang="en-IN" dirty="0"/>
          </a:p>
        </p:txBody>
      </p:sp>
      <p:sp>
        <p:nvSpPr>
          <p:cNvPr id="4" name="Content Placeholder 3">
            <a:extLst>
              <a:ext uri="{FF2B5EF4-FFF2-40B4-BE49-F238E27FC236}">
                <a16:creationId xmlns:a16="http://schemas.microsoft.com/office/drawing/2014/main" id="{DA6B5CA1-1EA5-9795-4638-A5F282984EC5}"/>
              </a:ext>
            </a:extLst>
          </p:cNvPr>
          <p:cNvSpPr>
            <a:spLocks noGrp="1"/>
          </p:cNvSpPr>
          <p:nvPr>
            <p:ph sz="half" idx="2"/>
          </p:nvPr>
        </p:nvSpPr>
        <p:spPr>
          <a:xfrm>
            <a:off x="6172200" y="1189704"/>
            <a:ext cx="5184058" cy="5486399"/>
          </a:xfrm>
        </p:spPr>
        <p:txBody>
          <a:bodyPr>
            <a:noAutofit/>
          </a:bodyPr>
          <a:lstStyle/>
          <a:p>
            <a:pPr marL="0" indent="0">
              <a:buNone/>
            </a:pPr>
            <a:r>
              <a:rPr lang="en-IN" sz="1600" b="1" dirty="0"/>
              <a:t>KEY COLUMNS</a:t>
            </a:r>
          </a:p>
          <a:p>
            <a:r>
              <a:rPr lang="en-IN" sz="1600" b="1" dirty="0" err="1"/>
              <a:t>CustomerId</a:t>
            </a:r>
            <a:endParaRPr lang="en-IN" sz="1600" b="1" dirty="0"/>
          </a:p>
          <a:p>
            <a:r>
              <a:rPr lang="en-IN" sz="1600" b="1" dirty="0" err="1"/>
              <a:t>CreditScore</a:t>
            </a:r>
            <a:r>
              <a:rPr lang="en-IN" sz="1600" dirty="0"/>
              <a:t> </a:t>
            </a:r>
          </a:p>
          <a:p>
            <a:r>
              <a:rPr lang="en-IN" sz="1600" b="1" dirty="0"/>
              <a:t>Age</a:t>
            </a:r>
          </a:p>
          <a:p>
            <a:r>
              <a:rPr lang="en-IN" sz="1600" b="1" dirty="0"/>
              <a:t>Gender</a:t>
            </a:r>
          </a:p>
          <a:p>
            <a:r>
              <a:rPr lang="en-IN" sz="1600" b="1" dirty="0"/>
              <a:t>Geography</a:t>
            </a:r>
          </a:p>
          <a:p>
            <a:r>
              <a:rPr lang="en-IN" sz="1600" b="1" dirty="0"/>
              <a:t>Balance</a:t>
            </a:r>
          </a:p>
          <a:p>
            <a:r>
              <a:rPr lang="en-IN" sz="1600" b="1" dirty="0"/>
              <a:t>Estimated Salary</a:t>
            </a:r>
          </a:p>
          <a:p>
            <a:r>
              <a:rPr lang="en-IN" sz="1600" b="1" dirty="0"/>
              <a:t>Tenure</a:t>
            </a:r>
          </a:p>
          <a:p>
            <a:r>
              <a:rPr lang="en-IN" sz="1600" b="1" dirty="0"/>
              <a:t>Number of Products</a:t>
            </a:r>
          </a:p>
          <a:p>
            <a:r>
              <a:rPr lang="en-IN" sz="1600" b="1" dirty="0"/>
              <a:t>Has Credit Card</a:t>
            </a:r>
          </a:p>
          <a:p>
            <a:r>
              <a:rPr lang="en-IN" sz="1600" b="1" dirty="0"/>
              <a:t>Is Active Member</a:t>
            </a:r>
          </a:p>
          <a:p>
            <a:r>
              <a:rPr lang="en-IN" sz="1600" b="1" dirty="0"/>
              <a:t>Exited</a:t>
            </a:r>
          </a:p>
        </p:txBody>
      </p:sp>
    </p:spTree>
    <p:extLst>
      <p:ext uri="{BB962C8B-B14F-4D97-AF65-F5344CB8AC3E}">
        <p14:creationId xmlns:p14="http://schemas.microsoft.com/office/powerpoint/2010/main" val="2906903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863968-30AE-E2C6-75DF-5B3C0E2B1AAB}"/>
              </a:ext>
            </a:extLst>
          </p:cNvPr>
          <p:cNvSpPr>
            <a:spLocks noGrp="1"/>
          </p:cNvSpPr>
          <p:nvPr>
            <p:ph type="title"/>
          </p:nvPr>
        </p:nvSpPr>
        <p:spPr>
          <a:xfrm>
            <a:off x="1141413" y="618518"/>
            <a:ext cx="9310277" cy="925147"/>
          </a:xfrm>
        </p:spPr>
        <p:txBody>
          <a:bodyPr/>
          <a:lstStyle/>
          <a:p>
            <a:pPr algn="ctr"/>
            <a:r>
              <a:rPr lang="en-IN" dirty="0"/>
              <a:t>DATA MODEL</a:t>
            </a:r>
          </a:p>
        </p:txBody>
      </p:sp>
      <p:pic>
        <p:nvPicPr>
          <p:cNvPr id="4" name="Picture 3">
            <a:extLst>
              <a:ext uri="{FF2B5EF4-FFF2-40B4-BE49-F238E27FC236}">
                <a16:creationId xmlns:a16="http://schemas.microsoft.com/office/drawing/2014/main" id="{21026A9B-CD3A-1D27-9AE4-0BA4434D5BFA}"/>
              </a:ext>
            </a:extLst>
          </p:cNvPr>
          <p:cNvPicPr>
            <a:picLocks noChangeAspect="1"/>
          </p:cNvPicPr>
          <p:nvPr/>
        </p:nvPicPr>
        <p:blipFill>
          <a:blip r:embed="rId2"/>
          <a:stretch>
            <a:fillRect/>
          </a:stretch>
        </p:blipFill>
        <p:spPr>
          <a:xfrm>
            <a:off x="1986116" y="1739518"/>
            <a:ext cx="8219768" cy="469701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9170230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5C5B5-31DC-200D-2BD7-25E25F35936F}"/>
              </a:ext>
            </a:extLst>
          </p:cNvPr>
          <p:cNvSpPr>
            <a:spLocks noGrp="1"/>
          </p:cNvSpPr>
          <p:nvPr>
            <p:ph type="title"/>
          </p:nvPr>
        </p:nvSpPr>
        <p:spPr/>
        <p:txBody>
          <a:bodyPr/>
          <a:lstStyle/>
          <a:p>
            <a:r>
              <a:rPr lang="en-IN" dirty="0"/>
              <a:t>DATA CLEANING AND TRANSFORMATION</a:t>
            </a:r>
          </a:p>
        </p:txBody>
      </p:sp>
      <p:sp>
        <p:nvSpPr>
          <p:cNvPr id="3" name="Content Placeholder 2">
            <a:extLst>
              <a:ext uri="{FF2B5EF4-FFF2-40B4-BE49-F238E27FC236}">
                <a16:creationId xmlns:a16="http://schemas.microsoft.com/office/drawing/2014/main" id="{AC5C2175-8E66-09D7-464C-348DFC188E3B}"/>
              </a:ext>
            </a:extLst>
          </p:cNvPr>
          <p:cNvSpPr>
            <a:spLocks noGrp="1"/>
          </p:cNvSpPr>
          <p:nvPr>
            <p:ph idx="1"/>
          </p:nvPr>
        </p:nvSpPr>
        <p:spPr/>
        <p:txBody>
          <a:bodyPr>
            <a:normAutofit/>
          </a:bodyPr>
          <a:lstStyle/>
          <a:p>
            <a:pPr marL="0" indent="0">
              <a:buNone/>
            </a:pPr>
            <a:r>
              <a:rPr lang="en-IN" b="1" dirty="0"/>
              <a:t>Data Cleaning</a:t>
            </a:r>
          </a:p>
          <a:p>
            <a:r>
              <a:rPr lang="en-IN" sz="2000" dirty="0"/>
              <a:t>Imported and validated </a:t>
            </a:r>
            <a:r>
              <a:rPr lang="en-IN" sz="2000" b="1" dirty="0"/>
              <a:t>7 related datasets</a:t>
            </a:r>
            <a:r>
              <a:rPr lang="en-IN" sz="2000" dirty="0"/>
              <a:t>. </a:t>
            </a:r>
          </a:p>
          <a:p>
            <a:r>
              <a:rPr lang="en-IN" sz="2000" dirty="0"/>
              <a:t>Checked for </a:t>
            </a:r>
            <a:r>
              <a:rPr lang="en-IN" sz="2000" b="1" dirty="0"/>
              <a:t>missing (null) values</a:t>
            </a:r>
            <a:r>
              <a:rPr lang="en-IN" sz="2000" dirty="0"/>
              <a:t> and handled them appropriately. </a:t>
            </a:r>
          </a:p>
          <a:p>
            <a:r>
              <a:rPr lang="en-IN" sz="2000" dirty="0"/>
              <a:t>Checked duplicate records.</a:t>
            </a:r>
          </a:p>
          <a:p>
            <a:r>
              <a:rPr lang="en-IN" sz="2000" dirty="0"/>
              <a:t>Verified and corrected data types (Text, Whole Number, Decimal, Date). </a:t>
            </a:r>
          </a:p>
          <a:p>
            <a:r>
              <a:rPr lang="en-IN" sz="2000" dirty="0"/>
              <a:t>Standardized column names for consistency. </a:t>
            </a:r>
          </a:p>
          <a:p>
            <a:r>
              <a:rPr lang="en-IN" sz="2000" dirty="0"/>
              <a:t>Ensured Customer ID uniqueness across all tables.</a:t>
            </a:r>
          </a:p>
          <a:p>
            <a:endParaRPr lang="en-IN" dirty="0"/>
          </a:p>
        </p:txBody>
      </p:sp>
    </p:spTree>
    <p:extLst>
      <p:ext uri="{BB962C8B-B14F-4D97-AF65-F5344CB8AC3E}">
        <p14:creationId xmlns:p14="http://schemas.microsoft.com/office/powerpoint/2010/main" val="1371618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2D10D-00A1-886C-89B0-55AF4E1D6CE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787E47-7991-93E7-5F9B-66A61B38B3DD}"/>
              </a:ext>
            </a:extLst>
          </p:cNvPr>
          <p:cNvSpPr>
            <a:spLocks noGrp="1"/>
          </p:cNvSpPr>
          <p:nvPr>
            <p:ph idx="1"/>
          </p:nvPr>
        </p:nvSpPr>
        <p:spPr>
          <a:xfrm>
            <a:off x="1141412" y="521110"/>
            <a:ext cx="10362330" cy="6086167"/>
          </a:xfrm>
        </p:spPr>
        <p:txBody>
          <a:bodyPr>
            <a:normAutofit fontScale="70000" lnSpcReduction="20000"/>
          </a:bodyPr>
          <a:lstStyle/>
          <a:p>
            <a:pPr marL="0" indent="0">
              <a:buNone/>
            </a:pPr>
            <a:r>
              <a:rPr lang="en-IN" sz="3400" b="1" dirty="0"/>
              <a:t>Data Transformation</a:t>
            </a:r>
          </a:p>
          <a:p>
            <a:r>
              <a:rPr lang="en-IN" sz="2900" dirty="0"/>
              <a:t>Created relationships between all tables using </a:t>
            </a:r>
            <a:r>
              <a:rPr lang="en-IN" sz="2900" b="1" dirty="0" err="1"/>
              <a:t>CustomerId</a:t>
            </a:r>
            <a:r>
              <a:rPr lang="en-IN" sz="2900" dirty="0"/>
              <a:t>, </a:t>
            </a:r>
            <a:r>
              <a:rPr lang="en-IN" sz="2900" b="1" dirty="0" err="1"/>
              <a:t>GeographyID</a:t>
            </a:r>
            <a:r>
              <a:rPr lang="en-IN" sz="2900" dirty="0"/>
              <a:t>, and </a:t>
            </a:r>
            <a:r>
              <a:rPr lang="en-IN" sz="2900" b="1" dirty="0" err="1"/>
              <a:t>GenderID</a:t>
            </a:r>
            <a:r>
              <a:rPr lang="en-IN" sz="2900" dirty="0"/>
              <a:t>. </a:t>
            </a:r>
          </a:p>
          <a:p>
            <a:r>
              <a:rPr lang="en-IN" sz="2900" dirty="0"/>
              <a:t>Developed a </a:t>
            </a:r>
            <a:r>
              <a:rPr lang="en-IN" sz="2900" b="1" dirty="0"/>
              <a:t>Star Schema</a:t>
            </a:r>
            <a:r>
              <a:rPr lang="en-IN" sz="2900" dirty="0"/>
              <a:t> data model for efficient reporting. </a:t>
            </a:r>
          </a:p>
          <a:p>
            <a:r>
              <a:rPr lang="en-IN" sz="2900" dirty="0"/>
              <a:t>Created calculated columns: </a:t>
            </a:r>
          </a:p>
          <a:p>
            <a:pPr lvl="1"/>
            <a:r>
              <a:rPr lang="en-IN" sz="2900" dirty="0"/>
              <a:t>Age Group </a:t>
            </a:r>
          </a:p>
          <a:p>
            <a:pPr lvl="1"/>
            <a:r>
              <a:rPr lang="en-IN" sz="2900" dirty="0"/>
              <a:t>Salary Group </a:t>
            </a:r>
          </a:p>
          <a:p>
            <a:pPr lvl="1"/>
            <a:r>
              <a:rPr lang="en-IN" sz="2900" dirty="0"/>
              <a:t>Active Category </a:t>
            </a:r>
          </a:p>
          <a:p>
            <a:r>
              <a:rPr lang="en-IN" sz="2900" dirty="0"/>
              <a:t>Created DAX measures: </a:t>
            </a:r>
          </a:p>
          <a:p>
            <a:pPr lvl="1"/>
            <a:r>
              <a:rPr lang="en-IN" sz="2900" dirty="0"/>
              <a:t>Total Customers </a:t>
            </a:r>
          </a:p>
          <a:p>
            <a:pPr lvl="1"/>
            <a:r>
              <a:rPr lang="en-IN" sz="2900" dirty="0"/>
              <a:t>Exited Customers </a:t>
            </a:r>
          </a:p>
          <a:p>
            <a:pPr lvl="1"/>
            <a:r>
              <a:rPr lang="en-IN" sz="2900" dirty="0"/>
              <a:t>Active Customers </a:t>
            </a:r>
          </a:p>
          <a:p>
            <a:pPr lvl="1"/>
            <a:r>
              <a:rPr lang="en-IN" sz="2900" dirty="0"/>
              <a:t>Churn Rate </a:t>
            </a:r>
          </a:p>
          <a:p>
            <a:pPr lvl="1"/>
            <a:r>
              <a:rPr lang="en-IN" sz="2900" dirty="0"/>
              <a:t>Average Credit Score </a:t>
            </a:r>
          </a:p>
          <a:p>
            <a:pPr lvl="1"/>
            <a:r>
              <a:rPr lang="en-IN" sz="2900" dirty="0"/>
              <a:t>Average Balance </a:t>
            </a:r>
          </a:p>
          <a:p>
            <a:r>
              <a:rPr lang="en-IN" sz="2900" dirty="0"/>
              <a:t>Applied conditional formatting to highlight high-risk churn customers.</a:t>
            </a:r>
          </a:p>
          <a:p>
            <a:endParaRPr lang="en-IN" dirty="0"/>
          </a:p>
        </p:txBody>
      </p:sp>
    </p:spTree>
    <p:extLst>
      <p:ext uri="{BB962C8B-B14F-4D97-AF65-F5344CB8AC3E}">
        <p14:creationId xmlns:p14="http://schemas.microsoft.com/office/powerpoint/2010/main" val="3035165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F43A0-9F00-7E52-DD06-1CE4F8607692}"/>
              </a:ext>
            </a:extLst>
          </p:cNvPr>
          <p:cNvSpPr>
            <a:spLocks noGrp="1"/>
          </p:cNvSpPr>
          <p:nvPr>
            <p:ph type="title"/>
          </p:nvPr>
        </p:nvSpPr>
        <p:spPr>
          <a:xfrm>
            <a:off x="1141413" y="618518"/>
            <a:ext cx="9905998" cy="4877714"/>
          </a:xfrm>
        </p:spPr>
        <p:txBody>
          <a:bodyPr>
            <a:normAutofit/>
          </a:bodyPr>
          <a:lstStyle/>
          <a:p>
            <a:r>
              <a:rPr lang="en-IN" sz="4800" dirty="0"/>
              <a:t>INSIGHTS AND RECOMMENDATIONS</a:t>
            </a:r>
          </a:p>
        </p:txBody>
      </p:sp>
    </p:spTree>
    <p:extLst>
      <p:ext uri="{BB962C8B-B14F-4D97-AF65-F5344CB8AC3E}">
        <p14:creationId xmlns:p14="http://schemas.microsoft.com/office/powerpoint/2010/main" val="20958128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B1AF1-4ED1-1449-61BD-C4F9302571FE}"/>
              </a:ext>
            </a:extLst>
          </p:cNvPr>
          <p:cNvSpPr>
            <a:spLocks noGrp="1"/>
          </p:cNvSpPr>
          <p:nvPr>
            <p:ph type="title"/>
          </p:nvPr>
        </p:nvSpPr>
        <p:spPr>
          <a:xfrm>
            <a:off x="983226" y="609601"/>
            <a:ext cx="9271819" cy="1120876"/>
          </a:xfrm>
        </p:spPr>
        <p:txBody>
          <a:bodyPr anchor="ctr">
            <a:normAutofit/>
          </a:bodyPr>
          <a:lstStyle/>
          <a:p>
            <a:pPr algn="ctr"/>
            <a:r>
              <a:rPr lang="en-IN" sz="3600" b="1" dirty="0"/>
              <a:t>OVERALL CHURN RATE</a:t>
            </a:r>
          </a:p>
        </p:txBody>
      </p:sp>
      <p:sp>
        <p:nvSpPr>
          <p:cNvPr id="3" name="Content Placeholder 2">
            <a:extLst>
              <a:ext uri="{FF2B5EF4-FFF2-40B4-BE49-F238E27FC236}">
                <a16:creationId xmlns:a16="http://schemas.microsoft.com/office/drawing/2014/main" id="{743C9D76-8A50-313A-8532-EF8C8DE453DC}"/>
              </a:ext>
            </a:extLst>
          </p:cNvPr>
          <p:cNvSpPr>
            <a:spLocks noGrp="1"/>
          </p:cNvSpPr>
          <p:nvPr>
            <p:ph idx="1"/>
          </p:nvPr>
        </p:nvSpPr>
        <p:spPr>
          <a:xfrm>
            <a:off x="5156200" y="1592826"/>
            <a:ext cx="5891209" cy="4198374"/>
          </a:xfrm>
        </p:spPr>
        <p:txBody>
          <a:bodyPr/>
          <a:lstStyle/>
          <a:p>
            <a:pPr marL="0" indent="0">
              <a:buNone/>
            </a:pPr>
            <a:r>
              <a:rPr lang="en-IN" b="1" u="sng" dirty="0"/>
              <a:t>Insights</a:t>
            </a:r>
          </a:p>
          <a:p>
            <a:r>
              <a:rPr lang="en-IN" sz="2000" dirty="0"/>
              <a:t>Overall customer churn rate is </a:t>
            </a:r>
            <a:r>
              <a:rPr lang="en-IN" sz="2000" b="1" dirty="0"/>
              <a:t>20.37%</a:t>
            </a:r>
            <a:r>
              <a:rPr lang="en-IN" sz="2000" dirty="0"/>
              <a:t>. </a:t>
            </a:r>
          </a:p>
          <a:p>
            <a:r>
              <a:rPr lang="en-IN" sz="2000" dirty="0"/>
              <a:t>Around </a:t>
            </a:r>
            <a:r>
              <a:rPr lang="en-IN" sz="2000" b="1" dirty="0"/>
              <a:t>1 in every 5 customers</a:t>
            </a:r>
            <a:r>
              <a:rPr lang="en-IN" sz="2000" dirty="0"/>
              <a:t> has left the bank. </a:t>
            </a:r>
          </a:p>
          <a:p>
            <a:pPr marL="0" indent="0">
              <a:buNone/>
            </a:pPr>
            <a:r>
              <a:rPr lang="en-IN" b="1" u="sng" dirty="0"/>
              <a:t>Recommendations</a:t>
            </a:r>
          </a:p>
          <a:p>
            <a:r>
              <a:rPr lang="en-IN" sz="2000" dirty="0"/>
              <a:t>Focus retention efforts on high-risk customer segments. </a:t>
            </a:r>
          </a:p>
          <a:p>
            <a:r>
              <a:rPr lang="en-IN" sz="2000" dirty="0"/>
              <a:t>Monitor churn monthly through dashboards.</a:t>
            </a:r>
          </a:p>
          <a:p>
            <a:pPr marL="0" indent="0">
              <a:buNone/>
            </a:pPr>
            <a:endParaRPr lang="en-IN" dirty="0"/>
          </a:p>
        </p:txBody>
      </p:sp>
      <p:pic>
        <p:nvPicPr>
          <p:cNvPr id="8" name="Picture 7">
            <a:extLst>
              <a:ext uri="{FF2B5EF4-FFF2-40B4-BE49-F238E27FC236}">
                <a16:creationId xmlns:a16="http://schemas.microsoft.com/office/drawing/2014/main" id="{E09CCD60-B069-0A91-3C14-B3A96F4F6CEA}"/>
              </a:ext>
            </a:extLst>
          </p:cNvPr>
          <p:cNvPicPr>
            <a:picLocks noChangeAspect="1"/>
          </p:cNvPicPr>
          <p:nvPr/>
        </p:nvPicPr>
        <p:blipFill>
          <a:blip r:embed="rId2"/>
          <a:stretch>
            <a:fillRect/>
          </a:stretch>
        </p:blipFill>
        <p:spPr>
          <a:xfrm>
            <a:off x="1477072" y="2105756"/>
            <a:ext cx="2731135" cy="198165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3838371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85F3B-D319-5F32-BA56-6BA5B2E62CB3}"/>
              </a:ext>
            </a:extLst>
          </p:cNvPr>
          <p:cNvSpPr>
            <a:spLocks noGrp="1"/>
          </p:cNvSpPr>
          <p:nvPr>
            <p:ph type="title"/>
          </p:nvPr>
        </p:nvSpPr>
        <p:spPr>
          <a:xfrm>
            <a:off x="1141413" y="609600"/>
            <a:ext cx="9506922" cy="1229032"/>
          </a:xfrm>
        </p:spPr>
        <p:txBody>
          <a:bodyPr>
            <a:normAutofit/>
          </a:bodyPr>
          <a:lstStyle/>
          <a:p>
            <a:pPr algn="ctr"/>
            <a:r>
              <a:rPr lang="en-IN" sz="3600" dirty="0"/>
              <a:t>CHURN TREND (YEAR-WISE)</a:t>
            </a:r>
          </a:p>
        </p:txBody>
      </p:sp>
      <p:sp>
        <p:nvSpPr>
          <p:cNvPr id="4" name="Text Placeholder 3">
            <a:extLst>
              <a:ext uri="{FF2B5EF4-FFF2-40B4-BE49-F238E27FC236}">
                <a16:creationId xmlns:a16="http://schemas.microsoft.com/office/drawing/2014/main" id="{C98FF125-91DD-917B-D97D-7F529CAE3757}"/>
              </a:ext>
            </a:extLst>
          </p:cNvPr>
          <p:cNvSpPr>
            <a:spLocks noGrp="1"/>
          </p:cNvSpPr>
          <p:nvPr>
            <p:ph type="body" sz="half" idx="2"/>
          </p:nvPr>
        </p:nvSpPr>
        <p:spPr/>
        <p:txBody>
          <a:bodyPr>
            <a:normAutofit fontScale="92500"/>
          </a:bodyPr>
          <a:lstStyle/>
          <a:p>
            <a:r>
              <a:rPr lang="en-IN" sz="2400" b="1" dirty="0"/>
              <a:t>Insights</a:t>
            </a:r>
          </a:p>
          <a:p>
            <a:pPr marL="342900" indent="-342900">
              <a:buFont typeface="Arial" panose="020B0604020202020204" pitchFamily="34" charset="0"/>
              <a:buChar char="•"/>
            </a:pPr>
            <a:r>
              <a:rPr lang="en-IN" sz="2000" dirty="0"/>
              <a:t>Customer exits increased steadily from </a:t>
            </a:r>
            <a:r>
              <a:rPr lang="en-IN" sz="2000" b="1" dirty="0"/>
              <a:t>2016 to 2019</a:t>
            </a:r>
            <a:r>
              <a:rPr lang="en-IN" sz="2000" dirty="0"/>
              <a:t>. </a:t>
            </a:r>
          </a:p>
          <a:p>
            <a:pPr marL="342900" indent="-342900">
              <a:buFont typeface="Arial" panose="020B0604020202020204" pitchFamily="34" charset="0"/>
              <a:buChar char="•"/>
            </a:pPr>
            <a:r>
              <a:rPr lang="en-IN" sz="2000" dirty="0"/>
              <a:t>Highest number of exits occurred in 2019. </a:t>
            </a:r>
          </a:p>
          <a:p>
            <a:r>
              <a:rPr lang="en-IN" sz="2400" b="1" dirty="0"/>
              <a:t>Recommendations</a:t>
            </a:r>
          </a:p>
          <a:p>
            <a:pPr marL="342900" indent="-342900">
              <a:buFont typeface="Arial" panose="020B0604020202020204" pitchFamily="34" charset="0"/>
              <a:buChar char="•"/>
            </a:pPr>
            <a:r>
              <a:rPr lang="en-IN" sz="2000" dirty="0"/>
              <a:t>Identify reasons behind the increasing churn trend. </a:t>
            </a:r>
          </a:p>
          <a:p>
            <a:pPr marL="342900" indent="-342900">
              <a:buFont typeface="Arial" panose="020B0604020202020204" pitchFamily="34" charset="0"/>
              <a:buChar char="•"/>
            </a:pPr>
            <a:r>
              <a:rPr lang="en-IN" sz="2000" dirty="0"/>
              <a:t>Implement proactive retention strategies before churn rises further.</a:t>
            </a:r>
          </a:p>
          <a:p>
            <a:endParaRPr lang="en-IN" dirty="0"/>
          </a:p>
        </p:txBody>
      </p:sp>
      <p:pic>
        <p:nvPicPr>
          <p:cNvPr id="10" name="Picture 9">
            <a:extLst>
              <a:ext uri="{FF2B5EF4-FFF2-40B4-BE49-F238E27FC236}">
                <a16:creationId xmlns:a16="http://schemas.microsoft.com/office/drawing/2014/main" id="{4A0BB243-F758-3254-CA8D-4010647C2536}"/>
              </a:ext>
            </a:extLst>
          </p:cNvPr>
          <p:cNvPicPr>
            <a:picLocks noChangeAspect="1"/>
          </p:cNvPicPr>
          <p:nvPr/>
        </p:nvPicPr>
        <p:blipFill>
          <a:blip r:embed="rId2"/>
          <a:stretch>
            <a:fillRect/>
          </a:stretch>
        </p:blipFill>
        <p:spPr>
          <a:xfrm>
            <a:off x="7403690" y="2487561"/>
            <a:ext cx="3942736" cy="23523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26110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82880-FD22-0BBD-FD77-409529F50B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D3D666-F5D2-2BC4-689D-94D26F1DB85C}"/>
              </a:ext>
            </a:extLst>
          </p:cNvPr>
          <p:cNvSpPr>
            <a:spLocks noGrp="1"/>
          </p:cNvSpPr>
          <p:nvPr>
            <p:ph type="title"/>
          </p:nvPr>
        </p:nvSpPr>
        <p:spPr>
          <a:xfrm>
            <a:off x="1141413" y="609600"/>
            <a:ext cx="9506922" cy="1229032"/>
          </a:xfrm>
        </p:spPr>
        <p:txBody>
          <a:bodyPr>
            <a:normAutofit/>
          </a:bodyPr>
          <a:lstStyle/>
          <a:p>
            <a:pPr algn="ctr"/>
            <a:r>
              <a:rPr lang="en-IN" sz="3600" dirty="0"/>
              <a:t>Customer Churn by Geography</a:t>
            </a:r>
          </a:p>
        </p:txBody>
      </p:sp>
      <p:sp>
        <p:nvSpPr>
          <p:cNvPr id="4" name="Text Placeholder 3">
            <a:extLst>
              <a:ext uri="{FF2B5EF4-FFF2-40B4-BE49-F238E27FC236}">
                <a16:creationId xmlns:a16="http://schemas.microsoft.com/office/drawing/2014/main" id="{A0C73E13-F9ED-78DB-ABFE-C5589E4AAD9E}"/>
              </a:ext>
            </a:extLst>
          </p:cNvPr>
          <p:cNvSpPr>
            <a:spLocks noGrp="1"/>
          </p:cNvSpPr>
          <p:nvPr>
            <p:ph type="body" sz="half" idx="2"/>
          </p:nvPr>
        </p:nvSpPr>
        <p:spPr/>
        <p:txBody>
          <a:bodyPr>
            <a:normAutofit/>
          </a:bodyPr>
          <a:lstStyle/>
          <a:p>
            <a:r>
              <a:rPr lang="en-IN" sz="2400" b="1" dirty="0"/>
              <a:t>Insights</a:t>
            </a:r>
          </a:p>
          <a:p>
            <a:pPr marL="342900" indent="-342900">
              <a:buFont typeface="Arial" panose="020B0604020202020204" pitchFamily="34" charset="0"/>
              <a:buChar char="•"/>
            </a:pPr>
            <a:r>
              <a:rPr lang="en-IN" sz="2000" dirty="0"/>
              <a:t>Germany has the highest churn rate. </a:t>
            </a:r>
          </a:p>
          <a:p>
            <a:pPr marL="342900" indent="-342900">
              <a:buFont typeface="Arial" panose="020B0604020202020204" pitchFamily="34" charset="0"/>
              <a:buChar char="•"/>
            </a:pPr>
            <a:r>
              <a:rPr lang="en-IN" sz="2000" dirty="0"/>
              <a:t>France and Spain have comparatively lower churn. </a:t>
            </a:r>
          </a:p>
          <a:p>
            <a:r>
              <a:rPr lang="en-IN" sz="2400" b="1" dirty="0"/>
              <a:t>Recommendations</a:t>
            </a:r>
          </a:p>
          <a:p>
            <a:pPr marL="342900" indent="-342900">
              <a:buFont typeface="Arial" panose="020B0604020202020204" pitchFamily="34" charset="0"/>
              <a:buChar char="•"/>
            </a:pPr>
            <a:r>
              <a:rPr lang="en-IN" sz="2000" dirty="0"/>
              <a:t>Investigate customer issues in Germany. </a:t>
            </a:r>
          </a:p>
          <a:p>
            <a:pPr marL="342900" indent="-342900">
              <a:buFont typeface="Arial" panose="020B0604020202020204" pitchFamily="34" charset="0"/>
              <a:buChar char="•"/>
            </a:pPr>
            <a:r>
              <a:rPr lang="en-IN" sz="2000" dirty="0"/>
              <a:t>Introduce region-specific retention campaigns.</a:t>
            </a:r>
          </a:p>
          <a:p>
            <a:endParaRPr lang="en-IN" sz="2400" b="1" dirty="0"/>
          </a:p>
          <a:p>
            <a:endParaRPr lang="en-IN" dirty="0"/>
          </a:p>
        </p:txBody>
      </p:sp>
      <p:pic>
        <p:nvPicPr>
          <p:cNvPr id="5" name="Picture 4">
            <a:extLst>
              <a:ext uri="{FF2B5EF4-FFF2-40B4-BE49-F238E27FC236}">
                <a16:creationId xmlns:a16="http://schemas.microsoft.com/office/drawing/2014/main" id="{AE61117E-A77A-6039-AEB1-3951B9CA9802}"/>
              </a:ext>
            </a:extLst>
          </p:cNvPr>
          <p:cNvPicPr>
            <a:picLocks noChangeAspect="1"/>
          </p:cNvPicPr>
          <p:nvPr/>
        </p:nvPicPr>
        <p:blipFill>
          <a:blip r:embed="rId2"/>
          <a:stretch>
            <a:fillRect/>
          </a:stretch>
        </p:blipFill>
        <p:spPr>
          <a:xfrm>
            <a:off x="7377498" y="2467897"/>
            <a:ext cx="3673092" cy="247772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3054804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90D29-DB81-C81F-A762-2B9CB448A3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5E289E-3B02-5DBE-EDD8-E20A6D82C697}"/>
              </a:ext>
            </a:extLst>
          </p:cNvPr>
          <p:cNvSpPr>
            <a:spLocks noGrp="1"/>
          </p:cNvSpPr>
          <p:nvPr>
            <p:ph type="title"/>
          </p:nvPr>
        </p:nvSpPr>
        <p:spPr>
          <a:xfrm>
            <a:off x="1141413" y="609600"/>
            <a:ext cx="9506922" cy="1229032"/>
          </a:xfrm>
        </p:spPr>
        <p:txBody>
          <a:bodyPr>
            <a:normAutofit/>
          </a:bodyPr>
          <a:lstStyle/>
          <a:p>
            <a:pPr algn="ctr"/>
            <a:r>
              <a:rPr lang="en-IN" sz="3600" dirty="0"/>
              <a:t>Churn Rate by Age Group</a:t>
            </a:r>
          </a:p>
        </p:txBody>
      </p:sp>
      <p:sp>
        <p:nvSpPr>
          <p:cNvPr id="4" name="Text Placeholder 3">
            <a:extLst>
              <a:ext uri="{FF2B5EF4-FFF2-40B4-BE49-F238E27FC236}">
                <a16:creationId xmlns:a16="http://schemas.microsoft.com/office/drawing/2014/main" id="{B5158A4D-D858-B3B3-24B2-0C0B7D4F1048}"/>
              </a:ext>
            </a:extLst>
          </p:cNvPr>
          <p:cNvSpPr>
            <a:spLocks noGrp="1"/>
          </p:cNvSpPr>
          <p:nvPr>
            <p:ph type="body" sz="half" idx="2"/>
          </p:nvPr>
        </p:nvSpPr>
        <p:spPr/>
        <p:txBody>
          <a:bodyPr>
            <a:normAutofit fontScale="92500"/>
          </a:bodyPr>
          <a:lstStyle/>
          <a:p>
            <a:r>
              <a:rPr lang="en-IN" sz="2400" b="1" dirty="0"/>
              <a:t>Insights</a:t>
            </a:r>
          </a:p>
          <a:p>
            <a:pPr marL="342900" indent="-342900">
              <a:buFont typeface="Arial" panose="020B0604020202020204" pitchFamily="34" charset="0"/>
              <a:buChar char="•"/>
            </a:pPr>
            <a:r>
              <a:rPr lang="en-IN" sz="2200" dirty="0"/>
              <a:t>Customers aged </a:t>
            </a:r>
            <a:r>
              <a:rPr lang="en-IN" sz="2200" b="1" dirty="0"/>
              <a:t>46–55</a:t>
            </a:r>
            <a:r>
              <a:rPr lang="en-IN" sz="2200" dirty="0"/>
              <a:t> show the highest churn.</a:t>
            </a:r>
          </a:p>
          <a:p>
            <a:pPr marL="342900" indent="-342900">
              <a:buFont typeface="Arial" panose="020B0604020202020204" pitchFamily="34" charset="0"/>
              <a:buChar char="•"/>
            </a:pPr>
            <a:r>
              <a:rPr lang="en-IN" sz="2200" dirty="0"/>
              <a:t>Younger customers (18–35) are more likely to stay.</a:t>
            </a:r>
            <a:endParaRPr lang="en-IN" sz="2200" b="1" dirty="0"/>
          </a:p>
          <a:p>
            <a:r>
              <a:rPr lang="en-IN" sz="2400" b="1" dirty="0"/>
              <a:t>Recommendations</a:t>
            </a:r>
          </a:p>
          <a:p>
            <a:pPr marL="342900" indent="-342900">
              <a:buFont typeface="Arial" panose="020B0604020202020204" pitchFamily="34" charset="0"/>
              <a:buChar char="•"/>
            </a:pPr>
            <a:r>
              <a:rPr lang="en-IN" sz="2200" dirty="0"/>
              <a:t>Offer loyalty benefits for middle-aged customers. </a:t>
            </a:r>
          </a:p>
          <a:p>
            <a:pPr marL="342900" indent="-342900">
              <a:buFont typeface="Arial" panose="020B0604020202020204" pitchFamily="34" charset="0"/>
              <a:buChar char="•"/>
            </a:pPr>
            <a:r>
              <a:rPr lang="en-IN" sz="2200" dirty="0"/>
              <a:t>Design personalized financial products for this segment. </a:t>
            </a:r>
          </a:p>
          <a:p>
            <a:endParaRPr lang="en-IN" sz="2400" b="1" dirty="0"/>
          </a:p>
          <a:p>
            <a:endParaRPr lang="en-IN" dirty="0"/>
          </a:p>
        </p:txBody>
      </p:sp>
      <p:pic>
        <p:nvPicPr>
          <p:cNvPr id="6" name="Picture 5">
            <a:extLst>
              <a:ext uri="{FF2B5EF4-FFF2-40B4-BE49-F238E27FC236}">
                <a16:creationId xmlns:a16="http://schemas.microsoft.com/office/drawing/2014/main" id="{BAC3992D-4D88-F776-9B02-26E6F7490AB5}"/>
              </a:ext>
            </a:extLst>
          </p:cNvPr>
          <p:cNvPicPr>
            <a:picLocks noChangeAspect="1"/>
          </p:cNvPicPr>
          <p:nvPr/>
        </p:nvPicPr>
        <p:blipFill>
          <a:blip r:embed="rId2"/>
          <a:stretch>
            <a:fillRect/>
          </a:stretch>
        </p:blipFill>
        <p:spPr>
          <a:xfrm>
            <a:off x="7075921" y="2467897"/>
            <a:ext cx="3710066" cy="255147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057210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0BC6A-45ED-564E-7FAB-FB629C3524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5BF8-7A58-230E-81DF-0955A5AA6B30}"/>
              </a:ext>
            </a:extLst>
          </p:cNvPr>
          <p:cNvSpPr>
            <a:spLocks noGrp="1"/>
          </p:cNvSpPr>
          <p:nvPr>
            <p:ph type="title"/>
          </p:nvPr>
        </p:nvSpPr>
        <p:spPr>
          <a:xfrm>
            <a:off x="1141413" y="609600"/>
            <a:ext cx="9506922" cy="1229032"/>
          </a:xfrm>
        </p:spPr>
        <p:txBody>
          <a:bodyPr>
            <a:normAutofit/>
          </a:bodyPr>
          <a:lstStyle/>
          <a:p>
            <a:pPr algn="ctr"/>
            <a:r>
              <a:rPr lang="en-IN" sz="3600" dirty="0"/>
              <a:t>Active vs Inactive Members</a:t>
            </a:r>
          </a:p>
        </p:txBody>
      </p:sp>
      <p:sp>
        <p:nvSpPr>
          <p:cNvPr id="4" name="Text Placeholder 3">
            <a:extLst>
              <a:ext uri="{FF2B5EF4-FFF2-40B4-BE49-F238E27FC236}">
                <a16:creationId xmlns:a16="http://schemas.microsoft.com/office/drawing/2014/main" id="{731B693B-75D1-685A-39AC-4BBF9A8FE711}"/>
              </a:ext>
            </a:extLst>
          </p:cNvPr>
          <p:cNvSpPr>
            <a:spLocks noGrp="1"/>
          </p:cNvSpPr>
          <p:nvPr>
            <p:ph type="body" sz="half" idx="2"/>
          </p:nvPr>
        </p:nvSpPr>
        <p:spPr/>
        <p:txBody>
          <a:bodyPr>
            <a:normAutofit fontScale="85000" lnSpcReduction="20000"/>
          </a:bodyPr>
          <a:lstStyle/>
          <a:p>
            <a:r>
              <a:rPr lang="en-IN" sz="2400" b="1" dirty="0"/>
              <a:t>Insights</a:t>
            </a:r>
          </a:p>
          <a:p>
            <a:pPr marL="342900" indent="-342900">
              <a:buFont typeface="Arial" panose="020B0604020202020204" pitchFamily="34" charset="0"/>
              <a:buChar char="•"/>
            </a:pPr>
            <a:r>
              <a:rPr lang="en-IN" sz="2400" dirty="0"/>
              <a:t>Inactive members contribute significantly more to churn.</a:t>
            </a:r>
          </a:p>
          <a:p>
            <a:pPr marL="342900" indent="-342900">
              <a:buFont typeface="Arial" panose="020B0604020202020204" pitchFamily="34" charset="0"/>
              <a:buChar char="•"/>
            </a:pPr>
            <a:r>
              <a:rPr lang="en-IN" sz="2400" dirty="0"/>
              <a:t>Active members are much more likely to remain customers.</a:t>
            </a:r>
            <a:endParaRPr lang="en-IN" sz="2400" b="1" dirty="0"/>
          </a:p>
          <a:p>
            <a:r>
              <a:rPr lang="en-IN" sz="2400" b="1" dirty="0"/>
              <a:t>Recommendations</a:t>
            </a:r>
          </a:p>
          <a:p>
            <a:pPr marL="342900" indent="-342900">
              <a:buFont typeface="Arial" panose="020B0604020202020204" pitchFamily="34" charset="0"/>
              <a:buChar char="•"/>
            </a:pPr>
            <a:r>
              <a:rPr lang="en-IN" sz="2400" dirty="0"/>
              <a:t>Increase customer engagement through digital banking. </a:t>
            </a:r>
          </a:p>
          <a:p>
            <a:pPr marL="342900" indent="-342900">
              <a:buFont typeface="Arial" panose="020B0604020202020204" pitchFamily="34" charset="0"/>
              <a:buChar char="•"/>
            </a:pPr>
            <a:r>
              <a:rPr lang="en-IN" sz="2400" dirty="0"/>
              <a:t>Encourage inactive users with personalized offers.</a:t>
            </a:r>
            <a:endParaRPr lang="en-IN" sz="2400" b="1" dirty="0"/>
          </a:p>
          <a:p>
            <a:endParaRPr lang="en-IN" dirty="0"/>
          </a:p>
        </p:txBody>
      </p:sp>
      <p:pic>
        <p:nvPicPr>
          <p:cNvPr id="5" name="Picture 4">
            <a:extLst>
              <a:ext uri="{FF2B5EF4-FFF2-40B4-BE49-F238E27FC236}">
                <a16:creationId xmlns:a16="http://schemas.microsoft.com/office/drawing/2014/main" id="{D675A6D0-B4AE-BA85-6486-2AE58D2DC616}"/>
              </a:ext>
            </a:extLst>
          </p:cNvPr>
          <p:cNvPicPr>
            <a:picLocks noChangeAspect="1"/>
          </p:cNvPicPr>
          <p:nvPr/>
        </p:nvPicPr>
        <p:blipFill>
          <a:blip r:embed="rId2"/>
          <a:stretch>
            <a:fillRect/>
          </a:stretch>
        </p:blipFill>
        <p:spPr>
          <a:xfrm>
            <a:off x="7155034" y="2469538"/>
            <a:ext cx="3660450" cy="310160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1137657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4E39A-B498-9461-5060-A890024F04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A42CEF-F838-572B-1549-59A5F60FCC14}"/>
              </a:ext>
            </a:extLst>
          </p:cNvPr>
          <p:cNvSpPr>
            <a:spLocks noGrp="1"/>
          </p:cNvSpPr>
          <p:nvPr>
            <p:ph type="title"/>
          </p:nvPr>
        </p:nvSpPr>
        <p:spPr>
          <a:xfrm>
            <a:off x="1141413" y="609600"/>
            <a:ext cx="9506922" cy="1229032"/>
          </a:xfrm>
        </p:spPr>
        <p:txBody>
          <a:bodyPr>
            <a:normAutofit/>
          </a:bodyPr>
          <a:lstStyle/>
          <a:p>
            <a:pPr algn="ctr"/>
            <a:r>
              <a:rPr lang="en-IN" sz="3600" dirty="0"/>
              <a:t>Customer Distribution by Gender</a:t>
            </a:r>
          </a:p>
        </p:txBody>
      </p:sp>
      <p:sp>
        <p:nvSpPr>
          <p:cNvPr id="4" name="Text Placeholder 3">
            <a:extLst>
              <a:ext uri="{FF2B5EF4-FFF2-40B4-BE49-F238E27FC236}">
                <a16:creationId xmlns:a16="http://schemas.microsoft.com/office/drawing/2014/main" id="{B02543E3-14C3-3467-40EF-70D67029965D}"/>
              </a:ext>
            </a:extLst>
          </p:cNvPr>
          <p:cNvSpPr>
            <a:spLocks noGrp="1"/>
          </p:cNvSpPr>
          <p:nvPr>
            <p:ph type="body" sz="half" idx="2"/>
          </p:nvPr>
        </p:nvSpPr>
        <p:spPr>
          <a:xfrm>
            <a:off x="924232" y="2249486"/>
            <a:ext cx="6382842" cy="4515108"/>
          </a:xfrm>
        </p:spPr>
        <p:txBody>
          <a:bodyPr>
            <a:normAutofit fontScale="55000" lnSpcReduction="20000"/>
          </a:bodyPr>
          <a:lstStyle/>
          <a:p>
            <a:r>
              <a:rPr lang="en-IN" sz="4400" b="1" dirty="0"/>
              <a:t>Insights</a:t>
            </a:r>
          </a:p>
          <a:p>
            <a:pPr marL="342900" indent="-342900">
              <a:buFont typeface="Arial" panose="020B0604020202020204" pitchFamily="34" charset="0"/>
              <a:buChar char="•"/>
            </a:pPr>
            <a:r>
              <a:rPr lang="en-IN" sz="3600" dirty="0"/>
              <a:t>The customer base is </a:t>
            </a:r>
            <a:r>
              <a:rPr lang="en-IN" sz="3600" b="1" dirty="0"/>
              <a:t>well balanced</a:t>
            </a:r>
            <a:r>
              <a:rPr lang="en-IN" sz="3600" dirty="0"/>
              <a:t>, with </a:t>
            </a:r>
            <a:r>
              <a:rPr lang="en-IN" sz="3600" b="1" dirty="0"/>
              <a:t>54.57% male (5.46K)</a:t>
            </a:r>
            <a:r>
              <a:rPr lang="en-IN" sz="3600" dirty="0"/>
              <a:t> and </a:t>
            </a:r>
            <a:r>
              <a:rPr lang="en-IN" sz="3600" b="1" dirty="0"/>
              <a:t>45.43% female (4.54K)</a:t>
            </a:r>
            <a:r>
              <a:rPr lang="en-IN" sz="3600" dirty="0"/>
              <a:t> customers. </a:t>
            </a:r>
          </a:p>
          <a:p>
            <a:pPr marL="342900" indent="-342900">
              <a:buFont typeface="Arial" panose="020B0604020202020204" pitchFamily="34" charset="0"/>
              <a:buChar char="•"/>
            </a:pPr>
            <a:r>
              <a:rPr lang="en-IN" sz="3600" dirty="0"/>
              <a:t>Male customers form a slightly larger share of the bank's customer base. </a:t>
            </a:r>
          </a:p>
          <a:p>
            <a:pPr marL="342900" indent="-342900">
              <a:buFont typeface="Arial" panose="020B0604020202020204" pitchFamily="34" charset="0"/>
              <a:buChar char="•"/>
            </a:pPr>
            <a:r>
              <a:rPr lang="en-IN" sz="3600" dirty="0"/>
              <a:t>The difference is moderate, indicating the bank serves both genders effectively.</a:t>
            </a:r>
            <a:endParaRPr lang="en-IN" sz="3600" b="1" dirty="0"/>
          </a:p>
          <a:p>
            <a:r>
              <a:rPr lang="en-IN" sz="4400" b="1" dirty="0"/>
              <a:t>Recommendations</a:t>
            </a:r>
          </a:p>
          <a:p>
            <a:pPr marL="457200" indent="-457200">
              <a:buFont typeface="Arial" panose="020B0604020202020204" pitchFamily="34" charset="0"/>
              <a:buChar char="•"/>
            </a:pPr>
            <a:r>
              <a:rPr lang="en-IN" sz="3600" dirty="0"/>
              <a:t>Continue offering gender-neutral banking services. </a:t>
            </a:r>
          </a:p>
          <a:p>
            <a:pPr marL="457200" indent="-457200">
              <a:buFont typeface="Arial" panose="020B0604020202020204" pitchFamily="34" charset="0"/>
              <a:buChar char="•"/>
            </a:pPr>
            <a:r>
              <a:rPr lang="en-IN" sz="3600" dirty="0"/>
              <a:t>Analyse churn by gender for targeted marketing if needed.</a:t>
            </a:r>
          </a:p>
        </p:txBody>
      </p:sp>
      <p:pic>
        <p:nvPicPr>
          <p:cNvPr id="6" name="Picture 5">
            <a:extLst>
              <a:ext uri="{FF2B5EF4-FFF2-40B4-BE49-F238E27FC236}">
                <a16:creationId xmlns:a16="http://schemas.microsoft.com/office/drawing/2014/main" id="{4DF5BFB0-2FA2-DCFE-24EC-90ED5EB1E538}"/>
              </a:ext>
            </a:extLst>
          </p:cNvPr>
          <p:cNvPicPr>
            <a:picLocks noChangeAspect="1"/>
          </p:cNvPicPr>
          <p:nvPr/>
        </p:nvPicPr>
        <p:blipFill>
          <a:blip r:embed="rId2"/>
          <a:stretch>
            <a:fillRect/>
          </a:stretch>
        </p:blipFill>
        <p:spPr>
          <a:xfrm>
            <a:off x="7602042" y="2792361"/>
            <a:ext cx="3743515" cy="248756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7881694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FFFF0-BEB7-906E-4FE6-B4404E5B7C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194BE9-189A-0393-D963-9A4D4BD385A0}"/>
              </a:ext>
            </a:extLst>
          </p:cNvPr>
          <p:cNvSpPr>
            <a:spLocks noGrp="1"/>
          </p:cNvSpPr>
          <p:nvPr>
            <p:ph type="title"/>
          </p:nvPr>
        </p:nvSpPr>
        <p:spPr>
          <a:xfrm>
            <a:off x="1141413" y="609600"/>
            <a:ext cx="9506922" cy="1229032"/>
          </a:xfrm>
        </p:spPr>
        <p:txBody>
          <a:bodyPr>
            <a:normAutofit/>
          </a:bodyPr>
          <a:lstStyle/>
          <a:p>
            <a:pPr algn="ctr"/>
            <a:r>
              <a:rPr lang="en-IN" sz="3600" dirty="0"/>
              <a:t>Customer Distribution by Gender</a:t>
            </a:r>
          </a:p>
        </p:txBody>
      </p:sp>
      <p:sp>
        <p:nvSpPr>
          <p:cNvPr id="4" name="Text Placeholder 3">
            <a:extLst>
              <a:ext uri="{FF2B5EF4-FFF2-40B4-BE49-F238E27FC236}">
                <a16:creationId xmlns:a16="http://schemas.microsoft.com/office/drawing/2014/main" id="{971A7949-D5C5-453A-75DE-B1B4FC46C9E3}"/>
              </a:ext>
            </a:extLst>
          </p:cNvPr>
          <p:cNvSpPr>
            <a:spLocks noGrp="1"/>
          </p:cNvSpPr>
          <p:nvPr>
            <p:ph type="body" sz="half" idx="2"/>
          </p:nvPr>
        </p:nvSpPr>
        <p:spPr>
          <a:xfrm>
            <a:off x="924232" y="2249486"/>
            <a:ext cx="6382842" cy="4515108"/>
          </a:xfrm>
        </p:spPr>
        <p:txBody>
          <a:bodyPr>
            <a:normAutofit fontScale="92500" lnSpcReduction="20000"/>
          </a:bodyPr>
          <a:lstStyle/>
          <a:p>
            <a:r>
              <a:rPr lang="en-IN" sz="2600" b="1" dirty="0"/>
              <a:t>Insights</a:t>
            </a:r>
          </a:p>
          <a:p>
            <a:pPr marL="342900" indent="-342900">
              <a:buFont typeface="Arial" panose="020B0604020202020204" pitchFamily="34" charset="0"/>
              <a:buChar char="•"/>
            </a:pPr>
            <a:r>
              <a:rPr lang="en-IN" sz="2000" dirty="0"/>
              <a:t>Female customers have a higher churn rate (</a:t>
            </a:r>
            <a:r>
              <a:rPr lang="en-IN" sz="2000" b="1" dirty="0"/>
              <a:t>25.07%</a:t>
            </a:r>
            <a:r>
              <a:rPr lang="en-IN" sz="2000" dirty="0"/>
              <a:t>) than male customers (</a:t>
            </a:r>
            <a:r>
              <a:rPr lang="en-IN" sz="2000" b="1" dirty="0"/>
              <a:t>16.46%</a:t>
            </a:r>
            <a:r>
              <a:rPr lang="en-IN" sz="2000" dirty="0"/>
              <a:t>), indicating they are more likely to leave the bank. </a:t>
            </a:r>
          </a:p>
          <a:p>
            <a:pPr marL="342900" indent="-342900">
              <a:buFont typeface="Arial" panose="020B0604020202020204" pitchFamily="34" charset="0"/>
              <a:buChar char="•"/>
            </a:pPr>
            <a:r>
              <a:rPr lang="en-IN" sz="2000" dirty="0"/>
              <a:t>This suggests customer retention strategies may need to be tailored differently for female customers.</a:t>
            </a:r>
          </a:p>
          <a:p>
            <a:r>
              <a:rPr lang="en-IN" sz="2600" b="1" dirty="0"/>
              <a:t>Recommendations</a:t>
            </a:r>
          </a:p>
          <a:p>
            <a:pPr marL="342900" indent="-342900">
              <a:buFont typeface="Arial" panose="020B0604020202020204" pitchFamily="34" charset="0"/>
              <a:buChar char="•"/>
            </a:pPr>
            <a:r>
              <a:rPr lang="en-IN" sz="2000" dirty="0"/>
              <a:t>Introduce targeted loyalty programs and personalized offers for female customers to improve retention. </a:t>
            </a:r>
          </a:p>
          <a:p>
            <a:pPr marL="342900" indent="-342900">
              <a:buFont typeface="Arial" panose="020B0604020202020204" pitchFamily="34" charset="0"/>
              <a:buChar char="•"/>
            </a:pPr>
            <a:r>
              <a:rPr lang="en-IN" sz="2000" dirty="0"/>
              <a:t>Regularly monitor churn by gender and use customer feedback to address the reasons behind higher female churn.</a:t>
            </a:r>
            <a:endParaRPr lang="en-IN" sz="2000" b="1" dirty="0"/>
          </a:p>
          <a:p>
            <a:endParaRPr lang="en-IN" sz="2600" b="1" dirty="0"/>
          </a:p>
          <a:p>
            <a:endParaRPr lang="en-IN" sz="4400" b="1" dirty="0"/>
          </a:p>
        </p:txBody>
      </p:sp>
      <p:pic>
        <p:nvPicPr>
          <p:cNvPr id="5" name="Picture 4">
            <a:extLst>
              <a:ext uri="{FF2B5EF4-FFF2-40B4-BE49-F238E27FC236}">
                <a16:creationId xmlns:a16="http://schemas.microsoft.com/office/drawing/2014/main" id="{3D4BAA96-CDCD-7BFD-248E-584674CAA6FC}"/>
              </a:ext>
            </a:extLst>
          </p:cNvPr>
          <p:cNvPicPr>
            <a:picLocks noChangeAspect="1"/>
          </p:cNvPicPr>
          <p:nvPr/>
        </p:nvPicPr>
        <p:blipFill>
          <a:blip r:embed="rId2"/>
          <a:stretch>
            <a:fillRect/>
          </a:stretch>
        </p:blipFill>
        <p:spPr>
          <a:xfrm>
            <a:off x="7561007" y="2841523"/>
            <a:ext cx="3854246" cy="243690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6662828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FD1F9-AD44-41CC-D9ED-83F9A8789E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548920-0A0E-27D6-7956-AE511C06B03D}"/>
              </a:ext>
            </a:extLst>
          </p:cNvPr>
          <p:cNvSpPr>
            <a:spLocks noGrp="1"/>
          </p:cNvSpPr>
          <p:nvPr>
            <p:ph type="title"/>
          </p:nvPr>
        </p:nvSpPr>
        <p:spPr>
          <a:xfrm>
            <a:off x="1141413" y="609600"/>
            <a:ext cx="9506922" cy="1229032"/>
          </a:xfrm>
        </p:spPr>
        <p:txBody>
          <a:bodyPr>
            <a:normAutofit/>
          </a:bodyPr>
          <a:lstStyle/>
          <a:p>
            <a:pPr algn="ctr"/>
            <a:r>
              <a:rPr lang="en-IN" sz="3600" dirty="0"/>
              <a:t>Churn Rate by Credit Card Status</a:t>
            </a:r>
          </a:p>
        </p:txBody>
      </p:sp>
      <p:sp>
        <p:nvSpPr>
          <p:cNvPr id="4" name="Text Placeholder 3">
            <a:extLst>
              <a:ext uri="{FF2B5EF4-FFF2-40B4-BE49-F238E27FC236}">
                <a16:creationId xmlns:a16="http://schemas.microsoft.com/office/drawing/2014/main" id="{346D1A28-19CC-BF14-0E89-9DC04C042743}"/>
              </a:ext>
            </a:extLst>
          </p:cNvPr>
          <p:cNvSpPr>
            <a:spLocks noGrp="1"/>
          </p:cNvSpPr>
          <p:nvPr>
            <p:ph type="body" sz="half" idx="2"/>
          </p:nvPr>
        </p:nvSpPr>
        <p:spPr>
          <a:xfrm>
            <a:off x="924232" y="2074606"/>
            <a:ext cx="6263149" cy="4365523"/>
          </a:xfrm>
        </p:spPr>
        <p:txBody>
          <a:bodyPr>
            <a:normAutofit lnSpcReduction="10000"/>
          </a:bodyPr>
          <a:lstStyle/>
          <a:p>
            <a:r>
              <a:rPr lang="en-IN" sz="2400" b="1" dirty="0"/>
              <a:t>Insights</a:t>
            </a:r>
          </a:p>
          <a:p>
            <a:pPr marL="342900" indent="-342900">
              <a:buFont typeface="Arial" panose="020B0604020202020204" pitchFamily="34" charset="0"/>
              <a:buChar char="•"/>
            </a:pPr>
            <a:r>
              <a:rPr lang="en-IN" sz="2000" dirty="0"/>
              <a:t>Churn rates are almost identical for credit card holders and non-holders. </a:t>
            </a:r>
          </a:p>
          <a:p>
            <a:pPr marL="342900" indent="-342900">
              <a:buFont typeface="Arial" panose="020B0604020202020204" pitchFamily="34" charset="0"/>
              <a:buChar char="•"/>
            </a:pPr>
            <a:r>
              <a:rPr lang="en-IN" sz="2000" dirty="0"/>
              <a:t>Credit card ownership alone does not significantly influence customer retention.</a:t>
            </a:r>
            <a:endParaRPr lang="en-IN" sz="2000" b="1" dirty="0"/>
          </a:p>
          <a:p>
            <a:r>
              <a:rPr lang="en-IN" sz="2400" b="1" dirty="0"/>
              <a:t>Recommendations</a:t>
            </a:r>
          </a:p>
          <a:p>
            <a:pPr marL="342900" indent="-342900">
              <a:buFont typeface="Arial" panose="020B0604020202020204" pitchFamily="34" charset="0"/>
              <a:buChar char="•"/>
            </a:pPr>
            <a:r>
              <a:rPr lang="en-IN" sz="2000" dirty="0"/>
              <a:t>Enhance credit card reward programs and exclusive benefits. </a:t>
            </a:r>
          </a:p>
          <a:p>
            <a:pPr marL="342900" indent="-342900">
              <a:buFont typeface="Arial" panose="020B0604020202020204" pitchFamily="34" charset="0"/>
              <a:buChar char="•"/>
            </a:pPr>
            <a:r>
              <a:rPr lang="en-IN" sz="2000" dirty="0"/>
              <a:t>Combine rewards with personalized offers to improve retention.</a:t>
            </a:r>
            <a:endParaRPr lang="en-IN" sz="2000" b="1" dirty="0"/>
          </a:p>
          <a:p>
            <a:endParaRPr lang="en-IN" sz="4400" b="1" dirty="0"/>
          </a:p>
        </p:txBody>
      </p:sp>
      <p:pic>
        <p:nvPicPr>
          <p:cNvPr id="6" name="Picture 5">
            <a:extLst>
              <a:ext uri="{FF2B5EF4-FFF2-40B4-BE49-F238E27FC236}">
                <a16:creationId xmlns:a16="http://schemas.microsoft.com/office/drawing/2014/main" id="{CE823E01-8943-4DFE-165D-2EEC7646DC45}"/>
              </a:ext>
            </a:extLst>
          </p:cNvPr>
          <p:cNvPicPr>
            <a:picLocks noChangeAspect="1"/>
          </p:cNvPicPr>
          <p:nvPr/>
        </p:nvPicPr>
        <p:blipFill>
          <a:blip r:embed="rId2"/>
          <a:stretch>
            <a:fillRect/>
          </a:stretch>
        </p:blipFill>
        <p:spPr>
          <a:xfrm>
            <a:off x="7553360" y="2762865"/>
            <a:ext cx="3714407" cy="246789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793237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A41B6-E466-02DD-9D51-25315DEF8D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594ACA-CDC0-1DBA-8F5F-F9FFA4136D02}"/>
              </a:ext>
            </a:extLst>
          </p:cNvPr>
          <p:cNvSpPr>
            <a:spLocks noGrp="1"/>
          </p:cNvSpPr>
          <p:nvPr>
            <p:ph type="title"/>
          </p:nvPr>
        </p:nvSpPr>
        <p:spPr>
          <a:xfrm>
            <a:off x="1141413" y="609600"/>
            <a:ext cx="9506922" cy="1229032"/>
          </a:xfrm>
        </p:spPr>
        <p:txBody>
          <a:bodyPr>
            <a:normAutofit/>
          </a:bodyPr>
          <a:lstStyle/>
          <a:p>
            <a:pPr algn="ctr"/>
            <a:r>
              <a:rPr lang="en-IN" sz="3600" dirty="0"/>
              <a:t>Churn Rate by Number of Products</a:t>
            </a:r>
          </a:p>
        </p:txBody>
      </p:sp>
      <p:sp>
        <p:nvSpPr>
          <p:cNvPr id="4" name="Text Placeholder 3">
            <a:extLst>
              <a:ext uri="{FF2B5EF4-FFF2-40B4-BE49-F238E27FC236}">
                <a16:creationId xmlns:a16="http://schemas.microsoft.com/office/drawing/2014/main" id="{25C3A950-B6B9-F67D-53B3-ADC3BBD07D9B}"/>
              </a:ext>
            </a:extLst>
          </p:cNvPr>
          <p:cNvSpPr>
            <a:spLocks noGrp="1"/>
          </p:cNvSpPr>
          <p:nvPr>
            <p:ph type="body" sz="half" idx="2"/>
          </p:nvPr>
        </p:nvSpPr>
        <p:spPr>
          <a:xfrm>
            <a:off x="924232" y="2074606"/>
            <a:ext cx="6263149" cy="4365523"/>
          </a:xfrm>
        </p:spPr>
        <p:txBody>
          <a:bodyPr>
            <a:normAutofit/>
          </a:bodyPr>
          <a:lstStyle/>
          <a:p>
            <a:r>
              <a:rPr lang="en-IN" sz="2400" b="1" dirty="0"/>
              <a:t>Insights</a:t>
            </a:r>
          </a:p>
          <a:p>
            <a:pPr marL="342900" indent="-342900">
              <a:buFont typeface="Arial" panose="020B0604020202020204" pitchFamily="34" charset="0"/>
              <a:buChar char="•"/>
            </a:pPr>
            <a:r>
              <a:rPr lang="en-IN" sz="2000" dirty="0"/>
              <a:t>Customers with </a:t>
            </a:r>
            <a:r>
              <a:rPr lang="en-IN" sz="2000" b="1" dirty="0"/>
              <a:t>3–4 products</a:t>
            </a:r>
            <a:r>
              <a:rPr lang="en-IN" sz="2000" dirty="0"/>
              <a:t> have the highest churn rate. </a:t>
            </a:r>
          </a:p>
          <a:p>
            <a:pPr marL="342900" indent="-342900">
              <a:buFont typeface="Arial" panose="020B0604020202020204" pitchFamily="34" charset="0"/>
              <a:buChar char="•"/>
            </a:pPr>
            <a:r>
              <a:rPr lang="en-IN" sz="2000" dirty="0"/>
              <a:t>Customers with </a:t>
            </a:r>
            <a:r>
              <a:rPr lang="en-IN" sz="2000" b="1" dirty="0"/>
              <a:t>2 products</a:t>
            </a:r>
            <a:r>
              <a:rPr lang="en-IN" sz="2000" dirty="0"/>
              <a:t> show the lowest churn.</a:t>
            </a:r>
            <a:endParaRPr lang="en-IN" sz="2000" b="1" dirty="0"/>
          </a:p>
          <a:p>
            <a:r>
              <a:rPr lang="en-IN" sz="2400" b="1" dirty="0"/>
              <a:t>Recommendations</a:t>
            </a:r>
          </a:p>
          <a:p>
            <a:pPr marL="342900" indent="-342900">
              <a:buFont typeface="Arial" panose="020B0604020202020204" pitchFamily="34" charset="0"/>
              <a:buChar char="•"/>
            </a:pPr>
            <a:r>
              <a:rPr lang="en-IN" sz="2000" dirty="0"/>
              <a:t>Review product bundles for customers with multiple products. </a:t>
            </a:r>
          </a:p>
          <a:p>
            <a:pPr marL="342900" indent="-342900">
              <a:buFont typeface="Arial" panose="020B0604020202020204" pitchFamily="34" charset="0"/>
              <a:buChar char="•"/>
            </a:pPr>
            <a:r>
              <a:rPr lang="en-IN" sz="2000" dirty="0"/>
              <a:t>Improve service quality for premium customers.</a:t>
            </a:r>
            <a:endParaRPr lang="en-IN" sz="2000" b="1" dirty="0"/>
          </a:p>
        </p:txBody>
      </p:sp>
      <p:pic>
        <p:nvPicPr>
          <p:cNvPr id="5" name="Picture 4">
            <a:extLst>
              <a:ext uri="{FF2B5EF4-FFF2-40B4-BE49-F238E27FC236}">
                <a16:creationId xmlns:a16="http://schemas.microsoft.com/office/drawing/2014/main" id="{EC59F561-2F80-624F-796D-4972E8702763}"/>
              </a:ext>
            </a:extLst>
          </p:cNvPr>
          <p:cNvPicPr>
            <a:picLocks noChangeAspect="1"/>
          </p:cNvPicPr>
          <p:nvPr/>
        </p:nvPicPr>
        <p:blipFill>
          <a:blip r:embed="rId2"/>
          <a:stretch>
            <a:fillRect/>
          </a:stretch>
        </p:blipFill>
        <p:spPr>
          <a:xfrm>
            <a:off x="7553733" y="2684206"/>
            <a:ext cx="3910680" cy="258118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9159175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6988E-C29A-3C85-8B91-1B0615DF61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7361B0-7C70-6C9C-CA4A-935E5606DD00}"/>
              </a:ext>
            </a:extLst>
          </p:cNvPr>
          <p:cNvSpPr>
            <a:spLocks noGrp="1"/>
          </p:cNvSpPr>
          <p:nvPr>
            <p:ph type="title"/>
          </p:nvPr>
        </p:nvSpPr>
        <p:spPr>
          <a:xfrm>
            <a:off x="1141413" y="609600"/>
            <a:ext cx="9506922" cy="1229032"/>
          </a:xfrm>
        </p:spPr>
        <p:txBody>
          <a:bodyPr>
            <a:normAutofit/>
          </a:bodyPr>
          <a:lstStyle/>
          <a:p>
            <a:pPr algn="ctr"/>
            <a:r>
              <a:rPr lang="en-IN" sz="3600" dirty="0"/>
              <a:t>Average Balance by Geography</a:t>
            </a:r>
          </a:p>
        </p:txBody>
      </p:sp>
      <p:sp>
        <p:nvSpPr>
          <p:cNvPr id="4" name="Text Placeholder 3">
            <a:extLst>
              <a:ext uri="{FF2B5EF4-FFF2-40B4-BE49-F238E27FC236}">
                <a16:creationId xmlns:a16="http://schemas.microsoft.com/office/drawing/2014/main" id="{BEAC2D0C-CF20-BBCC-C4AE-6CC7DFEFB9F3}"/>
              </a:ext>
            </a:extLst>
          </p:cNvPr>
          <p:cNvSpPr>
            <a:spLocks noGrp="1"/>
          </p:cNvSpPr>
          <p:nvPr>
            <p:ph type="body" sz="half" idx="2"/>
          </p:nvPr>
        </p:nvSpPr>
        <p:spPr>
          <a:xfrm>
            <a:off x="924232" y="2074606"/>
            <a:ext cx="6263149" cy="4365523"/>
          </a:xfrm>
        </p:spPr>
        <p:txBody>
          <a:bodyPr>
            <a:normAutofit/>
          </a:bodyPr>
          <a:lstStyle/>
          <a:p>
            <a:r>
              <a:rPr lang="en-IN" sz="2400" b="1" dirty="0"/>
              <a:t>Insights</a:t>
            </a:r>
          </a:p>
          <a:p>
            <a:pPr marL="342900" indent="-342900">
              <a:buFont typeface="Arial" panose="020B0604020202020204" pitchFamily="34" charset="0"/>
              <a:buChar char="•"/>
            </a:pPr>
            <a:r>
              <a:rPr lang="en-IN" sz="2000" dirty="0"/>
              <a:t>Germany maintain higher average balance. </a:t>
            </a:r>
          </a:p>
          <a:p>
            <a:pPr marL="342900" indent="-342900">
              <a:buFont typeface="Arial" panose="020B0604020202020204" pitchFamily="34" charset="0"/>
              <a:buChar char="•"/>
            </a:pPr>
            <a:r>
              <a:rPr lang="en-IN" sz="2000" dirty="0"/>
              <a:t>Spain and France has comparatively lower customer balances.</a:t>
            </a:r>
          </a:p>
          <a:p>
            <a:r>
              <a:rPr lang="en-IN" sz="2400" b="1" dirty="0"/>
              <a:t>Recommendations</a:t>
            </a:r>
          </a:p>
          <a:p>
            <a:pPr marL="342900" indent="-342900">
              <a:buFont typeface="Arial" panose="020B0604020202020204" pitchFamily="34" charset="0"/>
              <a:buChar char="•"/>
            </a:pPr>
            <a:r>
              <a:rPr lang="en-IN" sz="2000" dirty="0"/>
              <a:t>Offer wealth management products in high-balance regions. </a:t>
            </a:r>
          </a:p>
          <a:p>
            <a:pPr marL="342900" indent="-342900">
              <a:buFont typeface="Arial" panose="020B0604020202020204" pitchFamily="34" charset="0"/>
              <a:buChar char="•"/>
            </a:pPr>
            <a:r>
              <a:rPr lang="en-IN" sz="2000" dirty="0"/>
              <a:t>Promote savings and investment products in France and Spain.</a:t>
            </a:r>
            <a:endParaRPr lang="en-IN" sz="2000" b="1" dirty="0"/>
          </a:p>
        </p:txBody>
      </p:sp>
      <p:pic>
        <p:nvPicPr>
          <p:cNvPr id="6" name="Picture 5">
            <a:extLst>
              <a:ext uri="{FF2B5EF4-FFF2-40B4-BE49-F238E27FC236}">
                <a16:creationId xmlns:a16="http://schemas.microsoft.com/office/drawing/2014/main" id="{5E8AA0BB-F8BC-94A8-8CD6-C18721E6F182}"/>
              </a:ext>
            </a:extLst>
          </p:cNvPr>
          <p:cNvPicPr>
            <a:picLocks noChangeAspect="1"/>
          </p:cNvPicPr>
          <p:nvPr/>
        </p:nvPicPr>
        <p:blipFill>
          <a:blip r:embed="rId2"/>
          <a:stretch>
            <a:fillRect/>
          </a:stretch>
        </p:blipFill>
        <p:spPr>
          <a:xfrm>
            <a:off x="7511845" y="2697016"/>
            <a:ext cx="3755923" cy="2769719"/>
          </a:xfrm>
          <a:prstGeom prst="rect">
            <a:avLst/>
          </a:prstGeom>
        </p:spPr>
      </p:pic>
    </p:spTree>
    <p:extLst>
      <p:ext uri="{BB962C8B-B14F-4D97-AF65-F5344CB8AC3E}">
        <p14:creationId xmlns:p14="http://schemas.microsoft.com/office/powerpoint/2010/main" val="9635127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F9C16-8348-78E3-B548-3F2C5DE60629}"/>
              </a:ext>
            </a:extLst>
          </p:cNvPr>
          <p:cNvSpPr>
            <a:spLocks noGrp="1"/>
          </p:cNvSpPr>
          <p:nvPr>
            <p:ph type="title"/>
          </p:nvPr>
        </p:nvSpPr>
        <p:spPr>
          <a:xfrm>
            <a:off x="1141413" y="206478"/>
            <a:ext cx="9654406" cy="727588"/>
          </a:xfrm>
        </p:spPr>
        <p:txBody>
          <a:bodyPr>
            <a:normAutofit/>
          </a:bodyPr>
          <a:lstStyle/>
          <a:p>
            <a:pPr algn="ctr"/>
            <a:r>
              <a:rPr lang="en-IN" dirty="0"/>
              <a:t>DASHBOARD</a:t>
            </a:r>
          </a:p>
        </p:txBody>
      </p:sp>
      <p:pic>
        <p:nvPicPr>
          <p:cNvPr id="4" name="Picture 3">
            <a:extLst>
              <a:ext uri="{FF2B5EF4-FFF2-40B4-BE49-F238E27FC236}">
                <a16:creationId xmlns:a16="http://schemas.microsoft.com/office/drawing/2014/main" id="{78A485BF-61E0-A755-8DF9-06E10B268F25}"/>
              </a:ext>
            </a:extLst>
          </p:cNvPr>
          <p:cNvPicPr>
            <a:picLocks noChangeAspect="1"/>
          </p:cNvPicPr>
          <p:nvPr/>
        </p:nvPicPr>
        <p:blipFill>
          <a:blip r:embed="rId2"/>
          <a:stretch>
            <a:fillRect/>
          </a:stretch>
        </p:blipFill>
        <p:spPr>
          <a:xfrm>
            <a:off x="1424002" y="1288027"/>
            <a:ext cx="9204669" cy="505234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1713519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88D1930-724C-E1F3-7F03-2E0F7625EDDF}"/>
              </a:ext>
            </a:extLst>
          </p:cNvPr>
          <p:cNvPicPr>
            <a:picLocks noChangeAspect="1"/>
          </p:cNvPicPr>
          <p:nvPr/>
        </p:nvPicPr>
        <p:blipFill>
          <a:blip r:embed="rId2"/>
          <a:stretch>
            <a:fillRect/>
          </a:stretch>
        </p:blipFill>
        <p:spPr>
          <a:xfrm>
            <a:off x="1345755" y="1318264"/>
            <a:ext cx="9303844" cy="513218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2240306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7AAB8-99EA-B8DD-9AE0-18456C646B2E}"/>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47A85B77-0BD5-0B1C-AA7B-39FCE9EF285B}"/>
              </a:ext>
            </a:extLst>
          </p:cNvPr>
          <p:cNvPicPr>
            <a:picLocks noChangeAspect="1"/>
          </p:cNvPicPr>
          <p:nvPr/>
        </p:nvPicPr>
        <p:blipFill>
          <a:blip r:embed="rId2"/>
          <a:stretch>
            <a:fillRect/>
          </a:stretch>
        </p:blipFill>
        <p:spPr>
          <a:xfrm>
            <a:off x="1340839" y="1210109"/>
            <a:ext cx="9510321" cy="524608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4965974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E3286-7708-5024-8EA1-7DDC3B67BABC}"/>
              </a:ext>
            </a:extLst>
          </p:cNvPr>
          <p:cNvSpPr>
            <a:spLocks noGrp="1"/>
          </p:cNvSpPr>
          <p:nvPr>
            <p:ph type="title"/>
          </p:nvPr>
        </p:nvSpPr>
        <p:spPr>
          <a:xfrm>
            <a:off x="1141413" y="618518"/>
            <a:ext cx="9905998" cy="1052966"/>
          </a:xfrm>
        </p:spPr>
        <p:txBody>
          <a:bodyPr/>
          <a:lstStyle/>
          <a:p>
            <a:pPr algn="ctr"/>
            <a:r>
              <a:rPr lang="en-IN" b="1" dirty="0"/>
              <a:t>Data Challenges in Churn Analysis</a:t>
            </a:r>
            <a:endParaRPr lang="en-IN" dirty="0"/>
          </a:p>
        </p:txBody>
      </p:sp>
      <p:sp>
        <p:nvSpPr>
          <p:cNvPr id="3" name="Content Placeholder 2">
            <a:extLst>
              <a:ext uri="{FF2B5EF4-FFF2-40B4-BE49-F238E27FC236}">
                <a16:creationId xmlns:a16="http://schemas.microsoft.com/office/drawing/2014/main" id="{78E2B722-6485-82E5-C088-E7C972C4EA02}"/>
              </a:ext>
            </a:extLst>
          </p:cNvPr>
          <p:cNvSpPr>
            <a:spLocks noGrp="1"/>
          </p:cNvSpPr>
          <p:nvPr>
            <p:ph idx="1"/>
          </p:nvPr>
        </p:nvSpPr>
        <p:spPr>
          <a:xfrm>
            <a:off x="1141412" y="1671484"/>
            <a:ext cx="10214846" cy="4847303"/>
          </a:xfrm>
        </p:spPr>
        <p:txBody>
          <a:bodyPr>
            <a:noAutofit/>
          </a:bodyPr>
          <a:lstStyle/>
          <a:p>
            <a:r>
              <a:rPr lang="en-IN" sz="2000" b="1" dirty="0"/>
              <a:t>Multiple Data Sources:</a:t>
            </a:r>
            <a:r>
              <a:rPr lang="en-IN" sz="2000" dirty="0"/>
              <a:t> Customer information was spread across </a:t>
            </a:r>
            <a:r>
              <a:rPr lang="en-IN" sz="2000" b="1" dirty="0"/>
              <a:t>7 different tables</a:t>
            </a:r>
            <a:r>
              <a:rPr lang="en-IN" sz="2000" dirty="0"/>
              <a:t>, requiring proper relationships and data modelling. </a:t>
            </a:r>
          </a:p>
          <a:p>
            <a:r>
              <a:rPr lang="en-IN" sz="2000" b="1" dirty="0"/>
              <a:t>Data Integration:</a:t>
            </a:r>
            <a:r>
              <a:rPr lang="en-IN" sz="2000" dirty="0"/>
              <a:t> Joining tables using </a:t>
            </a:r>
            <a:r>
              <a:rPr lang="en-IN" sz="2000" b="1" dirty="0" err="1"/>
              <a:t>CustomerId</a:t>
            </a:r>
            <a:r>
              <a:rPr lang="en-IN" sz="2000" b="1" dirty="0"/>
              <a:t>, </a:t>
            </a:r>
            <a:r>
              <a:rPr lang="en-IN" sz="2000" b="1" dirty="0" err="1"/>
              <a:t>GenderID</a:t>
            </a:r>
            <a:r>
              <a:rPr lang="en-IN" sz="2000" b="1" dirty="0"/>
              <a:t> and </a:t>
            </a:r>
            <a:r>
              <a:rPr lang="en-IN" sz="2000" b="1" dirty="0" err="1"/>
              <a:t>GeographyID</a:t>
            </a:r>
            <a:r>
              <a:rPr lang="en-IN" sz="2000" dirty="0"/>
              <a:t> while maintaining data consistency. </a:t>
            </a:r>
          </a:p>
          <a:p>
            <a:r>
              <a:rPr lang="en-IN" sz="2000" b="1" dirty="0"/>
              <a:t>Identifying Churn Drivers:</a:t>
            </a:r>
            <a:r>
              <a:rPr lang="en-IN" sz="2000" dirty="0"/>
              <a:t> Determining which factors (age, geography, activity status, products, credit score, etc.) had the greatest impact on customer churn. </a:t>
            </a:r>
          </a:p>
          <a:p>
            <a:r>
              <a:rPr lang="en-IN" sz="2000" b="1" dirty="0"/>
              <a:t>Performance Optimization:</a:t>
            </a:r>
            <a:r>
              <a:rPr lang="en-IN" sz="2000" dirty="0"/>
              <a:t> Used DAX measures and an optimized data model to ensure fast dashboard performance. </a:t>
            </a:r>
          </a:p>
          <a:p>
            <a:r>
              <a:rPr lang="en-IN" sz="2000" b="1" dirty="0"/>
              <a:t>Business Interpretation:</a:t>
            </a:r>
            <a:r>
              <a:rPr lang="en-IN" sz="2000" dirty="0"/>
              <a:t> Converting raw data into actionable insights and recommendations for customer retention.</a:t>
            </a:r>
          </a:p>
        </p:txBody>
      </p:sp>
    </p:spTree>
    <p:extLst>
      <p:ext uri="{BB962C8B-B14F-4D97-AF65-F5344CB8AC3E}">
        <p14:creationId xmlns:p14="http://schemas.microsoft.com/office/powerpoint/2010/main" val="26179604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5D798-79C6-86D0-DDF6-0734B6FAF956}"/>
              </a:ext>
            </a:extLst>
          </p:cNvPr>
          <p:cNvSpPr>
            <a:spLocks noGrp="1"/>
          </p:cNvSpPr>
          <p:nvPr>
            <p:ph type="title"/>
          </p:nvPr>
        </p:nvSpPr>
        <p:spPr>
          <a:xfrm>
            <a:off x="1141413" y="609600"/>
            <a:ext cx="9905998" cy="1071716"/>
          </a:xfrm>
        </p:spPr>
        <p:txBody>
          <a:bodyPr/>
          <a:lstStyle/>
          <a:p>
            <a:pPr algn="ctr"/>
            <a:r>
              <a:rPr lang="en-IN" dirty="0"/>
              <a:t>FINAL RECOMMENDATIONS</a:t>
            </a:r>
          </a:p>
        </p:txBody>
      </p:sp>
      <p:sp>
        <p:nvSpPr>
          <p:cNvPr id="3" name="Text Placeholder 2">
            <a:extLst>
              <a:ext uri="{FF2B5EF4-FFF2-40B4-BE49-F238E27FC236}">
                <a16:creationId xmlns:a16="http://schemas.microsoft.com/office/drawing/2014/main" id="{CD243C40-9929-7281-2222-0A364202102D}"/>
              </a:ext>
            </a:extLst>
          </p:cNvPr>
          <p:cNvSpPr>
            <a:spLocks noGrp="1"/>
          </p:cNvSpPr>
          <p:nvPr>
            <p:ph type="body" idx="1"/>
          </p:nvPr>
        </p:nvSpPr>
        <p:spPr>
          <a:xfrm>
            <a:off x="1282461" y="1681316"/>
            <a:ext cx="2899648" cy="924233"/>
          </a:xfrm>
        </p:spPr>
        <p:txBody>
          <a:bodyPr/>
          <a:lstStyle/>
          <a:p>
            <a:pPr algn="ctr"/>
            <a:r>
              <a:rPr lang="en-IN" b="1" cap="none" dirty="0"/>
              <a:t>Strengthen customer retention</a:t>
            </a:r>
          </a:p>
        </p:txBody>
      </p:sp>
      <p:sp>
        <p:nvSpPr>
          <p:cNvPr id="4" name="Text Placeholder 3">
            <a:extLst>
              <a:ext uri="{FF2B5EF4-FFF2-40B4-BE49-F238E27FC236}">
                <a16:creationId xmlns:a16="http://schemas.microsoft.com/office/drawing/2014/main" id="{CFE59FFA-242D-570E-9975-57A7F89324E1}"/>
              </a:ext>
            </a:extLst>
          </p:cNvPr>
          <p:cNvSpPr>
            <a:spLocks noGrp="1"/>
          </p:cNvSpPr>
          <p:nvPr>
            <p:ph type="body" sz="half" idx="15"/>
          </p:nvPr>
        </p:nvSpPr>
        <p:spPr>
          <a:xfrm>
            <a:off x="973374" y="2605638"/>
            <a:ext cx="3530839" cy="4011471"/>
          </a:xfrm>
        </p:spPr>
        <p:txBody>
          <a:bodyPr>
            <a:noAutofit/>
          </a:bodyPr>
          <a:lstStyle/>
          <a:p>
            <a:pPr marL="342900" indent="-342900">
              <a:buFont typeface="Arial" panose="020B0604020202020204" pitchFamily="34" charset="0"/>
              <a:buChar char="•"/>
            </a:pPr>
            <a:r>
              <a:rPr lang="en-IN" sz="2000" dirty="0"/>
              <a:t>Focus on high-risk customer segments, especially customers aged </a:t>
            </a:r>
            <a:r>
              <a:rPr lang="en-IN" sz="2000" b="1" dirty="0"/>
              <a:t>46–55</a:t>
            </a:r>
            <a:r>
              <a:rPr lang="en-IN" sz="2000" dirty="0"/>
              <a:t>, inactive members and customers with high churn probability.</a:t>
            </a:r>
          </a:p>
          <a:p>
            <a:pPr marL="342900" indent="-342900">
              <a:buFont typeface="Arial" panose="020B0604020202020204" pitchFamily="34" charset="0"/>
              <a:buChar char="•"/>
            </a:pPr>
            <a:r>
              <a:rPr lang="en-IN" sz="2000" dirty="0"/>
              <a:t>Introduce personalized offers, loyalty programs and proactive customer engagement to reduce churn.</a:t>
            </a:r>
          </a:p>
        </p:txBody>
      </p:sp>
      <p:sp>
        <p:nvSpPr>
          <p:cNvPr id="5" name="Text Placeholder 4">
            <a:extLst>
              <a:ext uri="{FF2B5EF4-FFF2-40B4-BE49-F238E27FC236}">
                <a16:creationId xmlns:a16="http://schemas.microsoft.com/office/drawing/2014/main" id="{C04EC8A9-78D5-5E96-197D-CE86206DA3BE}"/>
              </a:ext>
            </a:extLst>
          </p:cNvPr>
          <p:cNvSpPr>
            <a:spLocks noGrp="1"/>
          </p:cNvSpPr>
          <p:nvPr>
            <p:ph type="body" sz="quarter" idx="3"/>
          </p:nvPr>
        </p:nvSpPr>
        <p:spPr>
          <a:xfrm>
            <a:off x="4430374" y="1779638"/>
            <a:ext cx="3184385" cy="924233"/>
          </a:xfrm>
        </p:spPr>
        <p:txBody>
          <a:bodyPr/>
          <a:lstStyle/>
          <a:p>
            <a:pPr algn="ctr"/>
            <a:r>
              <a:rPr lang="en-IN" b="1" cap="none" dirty="0"/>
              <a:t>Enhance customer experience</a:t>
            </a:r>
          </a:p>
        </p:txBody>
      </p:sp>
      <p:sp>
        <p:nvSpPr>
          <p:cNvPr id="6" name="Text Placeholder 5">
            <a:extLst>
              <a:ext uri="{FF2B5EF4-FFF2-40B4-BE49-F238E27FC236}">
                <a16:creationId xmlns:a16="http://schemas.microsoft.com/office/drawing/2014/main" id="{C8F5C229-F414-C1FD-7CF6-30C9E36EACE1}"/>
              </a:ext>
            </a:extLst>
          </p:cNvPr>
          <p:cNvSpPr>
            <a:spLocks noGrp="1"/>
          </p:cNvSpPr>
          <p:nvPr>
            <p:ph type="body" sz="half" idx="16"/>
          </p:nvPr>
        </p:nvSpPr>
        <p:spPr>
          <a:xfrm>
            <a:off x="4504213" y="2802194"/>
            <a:ext cx="3195830" cy="3893574"/>
          </a:xfrm>
        </p:spPr>
        <p:txBody>
          <a:bodyPr>
            <a:normAutofit/>
          </a:bodyPr>
          <a:lstStyle/>
          <a:p>
            <a:pPr marL="342900" indent="-342900">
              <a:buFont typeface="Arial" panose="020B0604020202020204" pitchFamily="34" charset="0"/>
              <a:buChar char="•"/>
            </a:pPr>
            <a:r>
              <a:rPr lang="en-IN" sz="2000" dirty="0"/>
              <a:t>Improve service quality in high-churn regions, particularly </a:t>
            </a:r>
            <a:r>
              <a:rPr lang="en-IN" sz="2000" b="1" dirty="0"/>
              <a:t>Germany</a:t>
            </a:r>
            <a:r>
              <a:rPr lang="en-IN" sz="2000" dirty="0"/>
              <a:t>.</a:t>
            </a:r>
          </a:p>
          <a:p>
            <a:pPr marL="342900" indent="-342900">
              <a:buFont typeface="Arial" panose="020B0604020202020204" pitchFamily="34" charset="0"/>
              <a:buChar char="•"/>
            </a:pPr>
            <a:r>
              <a:rPr lang="en-IN" sz="2000" dirty="0"/>
              <a:t>Collect regular customer feedback and resolve issues quickly to increase customer satisfaction and trust.</a:t>
            </a:r>
          </a:p>
        </p:txBody>
      </p:sp>
      <p:sp>
        <p:nvSpPr>
          <p:cNvPr id="7" name="Text Placeholder 6">
            <a:extLst>
              <a:ext uri="{FF2B5EF4-FFF2-40B4-BE49-F238E27FC236}">
                <a16:creationId xmlns:a16="http://schemas.microsoft.com/office/drawing/2014/main" id="{98CE8E96-C919-4CA6-3A8E-94DAFA25B7AD}"/>
              </a:ext>
            </a:extLst>
          </p:cNvPr>
          <p:cNvSpPr>
            <a:spLocks noGrp="1"/>
          </p:cNvSpPr>
          <p:nvPr>
            <p:ph type="body" sz="quarter" idx="13"/>
          </p:nvPr>
        </p:nvSpPr>
        <p:spPr>
          <a:xfrm>
            <a:off x="7614759" y="1681315"/>
            <a:ext cx="3194968" cy="1022556"/>
          </a:xfrm>
        </p:spPr>
        <p:txBody>
          <a:bodyPr/>
          <a:lstStyle/>
          <a:p>
            <a:pPr algn="ctr"/>
            <a:r>
              <a:rPr lang="en-IN" b="1" cap="none" dirty="0"/>
              <a:t>Leverage data-driven decision making</a:t>
            </a:r>
          </a:p>
        </p:txBody>
      </p:sp>
      <p:sp>
        <p:nvSpPr>
          <p:cNvPr id="8" name="Text Placeholder 7">
            <a:extLst>
              <a:ext uri="{FF2B5EF4-FFF2-40B4-BE49-F238E27FC236}">
                <a16:creationId xmlns:a16="http://schemas.microsoft.com/office/drawing/2014/main" id="{AF82E58F-1AFD-4545-8FD1-3E0D6D758425}"/>
              </a:ext>
            </a:extLst>
          </p:cNvPr>
          <p:cNvSpPr>
            <a:spLocks noGrp="1"/>
          </p:cNvSpPr>
          <p:nvPr>
            <p:ph type="body" sz="half" idx="17"/>
          </p:nvPr>
        </p:nvSpPr>
        <p:spPr>
          <a:xfrm>
            <a:off x="7852442" y="2684296"/>
            <a:ext cx="3493984" cy="4011472"/>
          </a:xfrm>
        </p:spPr>
        <p:txBody>
          <a:bodyPr>
            <a:noAutofit/>
          </a:bodyPr>
          <a:lstStyle/>
          <a:p>
            <a:pPr marL="285750" indent="-285750">
              <a:buFont typeface="Arial" panose="020B0604020202020204" pitchFamily="34" charset="0"/>
              <a:buChar char="•"/>
            </a:pPr>
            <a:r>
              <a:rPr lang="en-IN" sz="2000" dirty="0"/>
              <a:t>Continuously monitor KPIs such as </a:t>
            </a:r>
            <a:r>
              <a:rPr lang="en-IN" sz="2000" b="1" dirty="0"/>
              <a:t>Churn Rate, Customer Activity, Product Usage and Credit Score</a:t>
            </a:r>
            <a:r>
              <a:rPr lang="en-IN" sz="2000" dirty="0"/>
              <a:t> through Power BI dashboards. </a:t>
            </a:r>
          </a:p>
          <a:p>
            <a:pPr marL="285750" indent="-285750">
              <a:buFont typeface="Arial" panose="020B0604020202020204" pitchFamily="34" charset="0"/>
              <a:buChar char="•"/>
            </a:pPr>
            <a:r>
              <a:rPr lang="en-IN" sz="2000" dirty="0"/>
              <a:t>Use predictive analytics and targeted marketing campaigns to identify at-risk customers early and improve retention.</a:t>
            </a:r>
          </a:p>
        </p:txBody>
      </p:sp>
    </p:spTree>
    <p:extLst>
      <p:ext uri="{BB962C8B-B14F-4D97-AF65-F5344CB8AC3E}">
        <p14:creationId xmlns:p14="http://schemas.microsoft.com/office/powerpoint/2010/main" val="2771643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893EF-5ECD-A1C5-95A1-4B9784ACD72B}"/>
              </a:ext>
            </a:extLst>
          </p:cNvPr>
          <p:cNvSpPr>
            <a:spLocks noGrp="1"/>
          </p:cNvSpPr>
          <p:nvPr>
            <p:ph type="title"/>
          </p:nvPr>
        </p:nvSpPr>
        <p:spPr/>
        <p:txBody>
          <a:bodyPr/>
          <a:lstStyle/>
          <a:p>
            <a:pPr algn="ctr"/>
            <a:r>
              <a:rPr lang="en-IN" dirty="0"/>
              <a:t>CONCLUSION</a:t>
            </a:r>
          </a:p>
        </p:txBody>
      </p:sp>
      <p:sp>
        <p:nvSpPr>
          <p:cNvPr id="3" name="Content Placeholder 2">
            <a:extLst>
              <a:ext uri="{FF2B5EF4-FFF2-40B4-BE49-F238E27FC236}">
                <a16:creationId xmlns:a16="http://schemas.microsoft.com/office/drawing/2014/main" id="{45D7A3EB-FC04-9746-E96E-306F90B9FD8C}"/>
              </a:ext>
            </a:extLst>
          </p:cNvPr>
          <p:cNvSpPr>
            <a:spLocks noGrp="1"/>
          </p:cNvSpPr>
          <p:nvPr>
            <p:ph idx="1"/>
          </p:nvPr>
        </p:nvSpPr>
        <p:spPr>
          <a:xfrm>
            <a:off x="1141412" y="2097088"/>
            <a:ext cx="9905999" cy="3998911"/>
          </a:xfrm>
        </p:spPr>
        <p:txBody>
          <a:bodyPr>
            <a:noAutofit/>
          </a:bodyPr>
          <a:lstStyle/>
          <a:p>
            <a:r>
              <a:rPr lang="en-IN" sz="2000" dirty="0"/>
              <a:t>The Bank CRM Churn Analysis project successfully identified the key factors influencing customer churn using </a:t>
            </a:r>
            <a:r>
              <a:rPr lang="en-IN" sz="2000" b="1" dirty="0"/>
              <a:t>Power BI, DAX and SQL</a:t>
            </a:r>
            <a:r>
              <a:rPr lang="en-IN" sz="2000" dirty="0"/>
              <a:t>. </a:t>
            </a:r>
          </a:p>
          <a:p>
            <a:r>
              <a:rPr lang="en-IN" sz="2000" dirty="0"/>
              <a:t>The analysis revealed that </a:t>
            </a:r>
            <a:r>
              <a:rPr lang="en-IN" sz="2000" b="1" dirty="0"/>
              <a:t>customer age, geography, activity status and number of products</a:t>
            </a:r>
            <a:r>
              <a:rPr lang="en-IN" sz="2000" dirty="0"/>
              <a:t> have a significant impact on churn while </a:t>
            </a:r>
            <a:r>
              <a:rPr lang="en-IN" sz="2000" b="1" dirty="0"/>
              <a:t>credit card ownership and salary have minimal influence</a:t>
            </a:r>
            <a:r>
              <a:rPr lang="en-IN" sz="2000" dirty="0"/>
              <a:t>. </a:t>
            </a:r>
          </a:p>
          <a:p>
            <a:r>
              <a:rPr lang="en-IN" sz="2000" dirty="0"/>
              <a:t>Interactive dashboards and visualizations enabled the bank to monitor customer behaviour, identify high-risk customers and make informed business decisions. </a:t>
            </a:r>
          </a:p>
          <a:p>
            <a:r>
              <a:rPr lang="en-IN" sz="2000" dirty="0"/>
              <a:t>By implementing targeted retention strategies, improving customer engagement and continuously monitoring key performance indicators, the bank can reduce churn, improve customer satisfaction and strengthen long-term customer relationships.</a:t>
            </a:r>
          </a:p>
        </p:txBody>
      </p:sp>
    </p:spTree>
    <p:extLst>
      <p:ext uri="{BB962C8B-B14F-4D97-AF65-F5344CB8AC3E}">
        <p14:creationId xmlns:p14="http://schemas.microsoft.com/office/powerpoint/2010/main" val="340915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336</TotalTime>
  <Words>1223</Words>
  <Application>Microsoft Office PowerPoint</Application>
  <PresentationFormat>Widescreen</PresentationFormat>
  <Paragraphs>159</Paragraphs>
  <Slides>25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Tw Cen MT</vt:lpstr>
      <vt:lpstr>Circuit</vt:lpstr>
      <vt:lpstr>   Capstone Project:  Analytical CRM Development for a Bank  </vt:lpstr>
      <vt:lpstr>INTRODUCTION</vt:lpstr>
      <vt:lpstr>OBJECTIVE</vt:lpstr>
      <vt:lpstr>PROBLEM STATEMENT</vt:lpstr>
      <vt:lpstr>DATA ATTRIBUTES The dataset contain information about 7 tables. Below is an overview of the dataset.  </vt:lpstr>
      <vt:lpstr>DATA MODEL</vt:lpstr>
      <vt:lpstr>DATA CLEANING AND TRANSFORMATION</vt:lpstr>
      <vt:lpstr>PowerPoint Presentation</vt:lpstr>
      <vt:lpstr>INSIGHTS AND RECOMMENDATIONS</vt:lpstr>
      <vt:lpstr>OVERALL CHURN RATE</vt:lpstr>
      <vt:lpstr>CHURN TREND (YEAR-WISE)</vt:lpstr>
      <vt:lpstr>Customer Churn by Geography</vt:lpstr>
      <vt:lpstr>Churn Rate by Age Group</vt:lpstr>
      <vt:lpstr>Active vs Inactive Members</vt:lpstr>
      <vt:lpstr>Customer Distribution by Gender</vt:lpstr>
      <vt:lpstr>Customer Distribution by Gender</vt:lpstr>
      <vt:lpstr>Churn Rate by Credit Card Status</vt:lpstr>
      <vt:lpstr>Churn Rate by Number of Products</vt:lpstr>
      <vt:lpstr>Average Balance by Geography</vt:lpstr>
      <vt:lpstr>DASHBOARD</vt:lpstr>
      <vt:lpstr>PowerPoint Presentation</vt:lpstr>
      <vt:lpstr>PowerPoint Presentation</vt:lpstr>
      <vt:lpstr>Data Challenges in Churn Analysis</vt:lpstr>
      <vt:lpstr>FINAL RECOMMENDATIONS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harmanpreet kaur</dc:creator>
  <cp:lastModifiedBy>harmanpreet kaur</cp:lastModifiedBy>
  <cp:revision>1</cp:revision>
  <dcterms:created xsi:type="dcterms:W3CDTF">2026-06-27T12:11:01Z</dcterms:created>
  <dcterms:modified xsi:type="dcterms:W3CDTF">2026-06-27T17:47:21Z</dcterms:modified>
</cp:coreProperties>
</file>